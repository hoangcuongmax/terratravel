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 0:30</a:t>
            </a:r>
          </a:p>
          <a:p/>
          <a:p>
            <a:r>
              <a:t>We are developing Terra NT, a trip-planning prototype for self-drive travel in the Northern Territory. We will show how our research shaped the design, what the current system can do, and what still needs validation.</a:t>
            </a:r>
          </a:p>
          <a:p/>
          <a:p>
            <a:r>
              <a:t>Visual note: the bundled full_nt.jpg is illustrative artwork, not a documentary photograph of a named place. Confirm usage rights before submission.</a:t>
            </a:r>
          </a:p>
          <a:p>
            <a:r>
              <a:t>Source: A2 cover and project scope, pp. 1 and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Ahanaf Alvi · 0:55</a:t>
            </a:r>
          </a:p>
          <a:p/>
          <a:p>
            <a:r>
              <a:t>Our problem is not a lack of travel information. It is that the information comes from different owners and changes at different rates. The planner should help travellers bring relevant information together while making the source and uncertainty clear.</a:t>
            </a:r>
          </a:p>
          <a:p/>
          <a:p>
            <a:r>
              <a:t>Primary user: the self-drive traveller. Other affected stakeholders include visitor-centre staff, small tourism operators, Aboriginal communities and responsible authorities.</a:t>
            </a:r>
          </a:p>
          <a:p/>
          <a:p>
            <a:r>
              <a:t>Source: A2, pp. 5–6 and 8–9.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Shaobin Chen · 1:05</a:t>
            </a:r>
          </a:p>
          <a:p/>
          <a:p>
            <a:r>
              <a:t>The report coded eight supplied response sets. Freshness or outdated information and source transparency and trust appeared in all eight. Fragmented planning information, vehicle and route suitability, fuel and remote-area safety, and alternative routes or disruption appeared in seven.</a:t>
            </a:r>
          </a:p>
          <a:p/>
          <a:p>
            <a:r>
              <a:t>Those findings changed the design priorities: one route-specific workflow, visible source type and last-checked context, and vehicle-aware constraints before route advice.</a:t>
            </a:r>
          </a:p>
          <a:p/>
          <a:p>
            <a:r>
              <a:t>Source: A2 report Figure 1 and Table 1, p. 6; Table 2, p. 8. The chart is recreated as editable slide content from the report values.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 1:05</a:t>
            </a:r>
          </a:p>
          <a:p/>
          <a:p>
            <a:r>
              <a:t>We moved from a broad itinerary generator idea toward evidence-grounded decision support. The target architecture separates retrieval, deterministic checks and explanation.</a:t>
            </a:r>
          </a:p>
          <a:p/>
          <a:p>
            <a:r>
              <a:t>The report also compared three approaches using a weighted project-fit score. RAG plus deterministic rules and constrained wording scored 4.50 out of 5, ahead of a general LLM travel planner at 2.76 and training or fine-tuning at 2.12. This is decision evidence, not a performance benchmark.</a:t>
            </a:r>
          </a:p>
          <a:p/>
          <a:p>
            <a:r>
              <a:t>The current knowledge-base retrieval is file-based and region-filtered. Live road and access feeds and the general deterministic rules layer remain planned.</a:t>
            </a:r>
          </a:p>
          <a:p>
            <a:r>
              <a:t>Evidence: A2, pp. 10–13, Table 4B, p. 11; current tools/plan_server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 0:55</a:t>
            </a:r>
          </a:p>
          <a:p/>
          <a:p>
            <a:r>
              <a:t>This slide makes the data and app structure explicit. Our source categories include NT Road Report, Parks Australia and NT Parks, Northern Land Council permit information, BOM forecasts and operator context. We curate place records with source authority, URLs, checked dates, region and tags.</a:t>
            </a:r>
          </a:p>
          <a:p/>
          <a:p>
            <a:r>
              <a:t>The current planner retrieves file-based records by region and includes them in the Gemini prompt. Gemini returns structured itinerary output, which the Flutter app presents for traveller review. The current data is not a live feed, so checked dates are evidence metadata rather than a promise of current conditions.</a:t>
            </a:r>
          </a:p>
          <a:p/>
          <a:p>
            <a:r>
              <a:t>The project also applies the lecture sequence: stakeholders and discovery become requirements; data context and human-centred design shape the workflow; responsible AI, readiness, privacy and lifecycle traceability constrain the system; testing, iteration, refinement and presentation provide the evidence loop.</a:t>
            </a:r>
          </a:p>
          <a:p>
            <a:r>
              <a:t>Evidence: A2 pp. 5–13, 14–17, 41–45; current tools/plan_server/README.md and rag/README.md.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 0:35</a:t>
            </a:r>
          </a:p>
          <a:p/>
          <a:p>
            <a:r>
              <a:t>Before explaining RAG, name the data. NT Road Report contributes road and access context. Parks Australia and NT Parks contribute park rules and closure context. Northern Land Council information contributes permit and authority context. BOM and local operators add weather and local context.</a:t>
            </a:r>
          </a:p>
          <a:p/>
          <a:p>
            <a:r>
              <a:t>Each record keeps an authority, URL, checked date, region and tags. That metadata lets the team inspect where a recommendation came from. It does not make the record live. The audience should hear this distinction before we explain the AI layer.</a:t>
            </a:r>
          </a:p>
          <a:p>
            <a:r>
              <a:t>Evidence: A2 pp. 8–13; current tools/plan_server/rag/README.md and places.py.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Shaobin Chen · 0:35</a:t>
            </a:r>
          </a:p>
          <a:p/>
          <a:p>
            <a:r>
              <a:t>This is the preparation layer. We collect source material, normalise the place name and region, curate authority and checked-date metadata, filter records for the requested corridor and pass only the relevant context into the planner prompt.</a:t>
            </a:r>
          </a:p>
          <a:p/>
          <a:p>
            <a:r>
              <a:t>The example is a place record for Jabiru. The record carries the evidence text and its source metadata together. This step matters because it gives us a human-review point before the model generates anything.</a:t>
            </a:r>
          </a:p>
          <a:p>
            <a:r>
              <a:t>Evidence: current tools/plan_server/rag/README.md and places.py; A2 pp. 10–13.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 0:40</a:t>
            </a:r>
          </a:p>
          <a:p/>
          <a:p>
            <a:r>
              <a:t>RAG means retrieval-augmented generation. The traveller request includes dates, vehicle, interests and corridor. The current service filters the file-based place records by region, brings relevant source-linked records into the prompt, and asks Gemini for structured itinerary output.</a:t>
            </a:r>
          </a:p>
          <a:p/>
          <a:p>
            <a:r>
              <a:t>The important boundary is that RAG improves relevance and traceability. It does not turn a checked record into a live road or permit feed. The human still reviews and edits the route. This is file-based, region-filtered retrieval, not a vector database and not an autonomous safety system.</a:t>
            </a:r>
          </a:p>
          <a:p>
            <a:r>
              <a:t>Evidence: current tools/plan_server/rag/README.md, places.py and server.py; A2 Table 4B, p. 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Tarik Bulut · 0:40</a:t>
            </a:r>
          </a:p>
          <a:p/>
          <a:p>
            <a:r>
              <a:t>The app structure has five steps. The traveller enters a route and constraints in Flutter. The app sends an authenticated request to the planner API. The planner retrieves source context and asks Gemini for structured JSON. Flutter renders the itinerary, map and stop details. The user then reviews and edits the proposed route.</a:t>
            </a:r>
          </a:p>
          <a:p/>
          <a:p>
            <a:r>
              <a:t>This is a review loop, not a one-way answer. The current limitation is that we still need to verify the complete authenticated app-to-planner flow on a connected device.</a:t>
            </a:r>
          </a:p>
          <a:p>
            <a:r>
              <a:t>Evidence: current Flutter app, tools/plan_server/server.py and presentation tracker.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Tarik Bulut · 0:50</a:t>
            </a:r>
          </a:p>
          <a:p/>
          <a:p>
            <a:r>
              <a:t>The mobile experience and the planner service are progressing as separate parts of the system. The current simulator capture shows a debug build with an offline suggestion from stored places. It is useful app evidence, but it is not proof of a live Gemini-generated route.</a:t>
            </a:r>
          </a:p>
          <a:p/>
          <a:p>
            <a:r>
              <a:t>The service has returned structured Gemini output and uses curated place records, but the complete authenticated app-to-planner flow still needs verification on a connected device.</a:t>
            </a:r>
          </a:p>
          <a:p/>
          <a:p>
            <a:r>
              <a:t>Ethical impact: the app keeps the traveller responsible for the final decision and avoids presenting stale context as current safety information. Scalability depends on adding governed, region-tagged records corridor by corridor and validating the rules and source quality before expansion.</a:t>
            </a:r>
          </a:p>
          <a:p>
            <a:r>
              <a:t>Evidence: A2, pp. 10–13; current presentation tracker and planner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Shaobin Chen · 0:55</a:t>
            </a:r>
          </a:p>
          <a:p/>
          <a:p>
            <a:r>
              <a:t>Our highest-impact risk is a confident recommendation based on stale or incomplete information. The knowledge base preserves source context, but this does not make the data current. A general rules engine is still outstanding, so Terra NT remains an advisory prototype and travellers must confirm live road, park and permit conditions.</a:t>
            </a:r>
          </a:p>
          <a:p/>
          <a:p>
            <a:r>
              <a:t>Ethically, authority, permit and cultural-access boundaries must stay visible. The intended impact is more transparent planning and less repeated checking, but we should not claim safety improvement until the rules and user evaluation are complete. For scalability, a region-tagged data model can extend corridor by corridor, provided each new source set is governed, refreshed and tested.</a:t>
            </a:r>
          </a:p>
          <a:p/>
          <a:p>
            <a:r>
              <a:t>Evidence: A2, pp. 14–15, Table 5 and Appendix D; current RAG dataset guidance.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Ahanaf Alvi · 0:55</a:t>
            </a:r>
          </a:p>
          <a:p/>
          <a:p>
            <a:r>
              <a:t>We completed nine functional checks on the browser prototype. That result covers its curated demonstration behaviours only. It is not a test of the Flutter app or the newer Gemini/RAG service. Our next evaluation needs to test retrieval support, constraint handling and whether users can understand the evidence.</a:t>
            </a:r>
          </a:p>
          <a:p/>
          <a:p>
            <a:r>
              <a:t>State the boundary clearly: “9/9” is not “100% accurate” and is not a safety benchmark.</a:t>
            </a:r>
          </a:p>
          <a:p>
            <a:r>
              <a:t>Evidence: A2, pp. 16–17, especially Table 7 and Appendix E6.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Max Hoang, with brief hand-offs · 2:35</a:t>
            </a:r>
          </a:p>
          <a:p/>
          <a:p>
            <a:r>
              <a:t>Demo objective: show how a traveller creates or opens an itinerary, understands the route and retains control.</a:t>
            </a:r>
          </a:p>
          <a:p/>
          <a:p>
            <a:r>
              <a:t>Sequence:</a:t>
            </a:r>
          </a:p>
          <a:p>
            <a:r>
              <a:t>1. Start already signed in.</a:t>
            </a:r>
          </a:p>
          <a:p>
            <a:r>
              <a:t>2. Choose the Darwin–Kakadu–Katherine / Top End corridor so the demo matches the A2 research scope.</a:t>
            </a:r>
          </a:p>
          <a:p>
            <a:r>
              <a:t>3. Generate or open the prepared itinerary and say whether it came from live Gemini, a fixture or a seeded route.</a:t>
            </a:r>
          </a:p>
          <a:p>
            <a:r>
              <a:t>4. Show the route and stop order. Explain that OSRM geometry is visual route guidance and can fall back to straight connectors.</a:t>
            </a:r>
          </a:p>
          <a:p>
            <a:r>
              <a:t>5. Open one stop, then reorder or remove/restore a stop.</a:t>
            </a:r>
          </a:p>
          <a:p>
            <a:r>
              <a:t>6. Close with: “The map supports orientation, but current road and access conditions still need confirmation from official sources.”</a:t>
            </a:r>
          </a:p>
          <a:p/>
          <a:p>
            <a:r>
              <a:t>Fallback: use the prepared local itinerary or the capture shown on the slide. Do not claim a live AI generation if the demo uses cached, fixture or seeded output.</a:t>
            </a:r>
          </a:p>
          <a:p>
            <a:r>
              <a:t>Evidence: compulsory live demonstration within 10 minutes; current tracker and A2 pp. 10–13, 16–17.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Tarik Bulut · 0:55</a:t>
            </a:r>
          </a:p>
          <a:p/>
          <a:p>
            <a:r>
              <a:t>Our next work is to verify the authenticated app-to-Gemini flow on a connected iPhone, expand the evidence model so generated facts retain source authority and freshness, add deterministic checks for closures, access, permits and vehicle suitability, and evaluate the experience with travellers and relevant staff.</a:t>
            </a:r>
          </a:p>
          <a:p/>
          <a:p>
            <a:r>
              <a:t>Closing line: “Terra NT brings the planning workflow together. The next milestone is proving that route recommendations remain traceable and useful when the underlying conditions change.”</a:t>
            </a:r>
          </a:p>
          <a:p>
            <a:r>
              <a:t>Evidence: A2, pp. 5, 8–9, 14–17; current presentation tracker and RAG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pic>
        <p:nvPicPr>
          <p:cNvPr id="2" name="Picture 1" descr="full_nt.jpg"/>
          <p:cNvPicPr>
            <a:picLocks noChangeAspect="1"/>
          </p:cNvPicPr>
          <p:nvPr/>
        </p:nvPicPr>
        <p:blipFill>
          <a:blip r:embed="rId2"/>
          <a:stretch>
            <a:fillRect/>
          </a:stretch>
        </p:blipFill>
        <p:spPr>
          <a:xfrm>
            <a:off x="6629400" y="0"/>
            <a:ext cx="5559552" cy="6858000"/>
          </a:xfrm>
          <a:prstGeom prst="rect">
            <a:avLst/>
          </a:prstGeom>
        </p:spPr>
      </p:pic>
      <p:sp>
        <p:nvSpPr>
          <p:cNvPr id="3" name="Rectangle 2"/>
          <p:cNvSpPr/>
          <p:nvPr/>
        </p:nvSpPr>
        <p:spPr>
          <a:xfrm>
            <a:off x="0" y="0"/>
            <a:ext cx="7772400" cy="6858000"/>
          </a:xfrm>
          <a:prstGeom prst="rect">
            <a:avLst/>
          </a:prstGeom>
          <a:solidFill>
            <a:srgbClr val="09111F"/>
          </a:solidFill>
          <a:ln>
            <a:solidFill>
              <a:srgbClr val="0911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713232"/>
            <a:ext cx="3200400" cy="320040"/>
          </a:xfrm>
          <a:prstGeom prst="rect">
            <a:avLst/>
          </a:prstGeom>
          <a:noFill/>
        </p:spPr>
        <p:txBody>
          <a:bodyPr wrap="square" lIns="18288" rIns="18288" tIns="18288" bIns="18288" anchor="t">
            <a:spAutoFit/>
          </a:bodyPr>
          <a:lstStyle/>
          <a:p>
            <a:pPr algn="l"/>
            <a:r>
              <a:rPr sz="1500" b="1" i="0">
                <a:solidFill>
                  <a:srgbClr val="F18F4E"/>
                </a:solidFill>
                <a:latin typeface="Aptos"/>
              </a:rPr>
              <a:t>TERRA NT</a:t>
            </a:r>
          </a:p>
        </p:txBody>
      </p:sp>
      <p:sp>
        <p:nvSpPr>
          <p:cNvPr id="5" name="TextBox 4"/>
          <p:cNvSpPr txBox="1"/>
          <p:nvPr/>
        </p:nvSpPr>
        <p:spPr>
          <a:xfrm>
            <a:off x="621792" y="1389888"/>
            <a:ext cx="5852160" cy="1325880"/>
          </a:xfrm>
          <a:prstGeom prst="rect">
            <a:avLst/>
          </a:prstGeom>
          <a:noFill/>
        </p:spPr>
        <p:txBody>
          <a:bodyPr wrap="square" lIns="18288" rIns="18288" tIns="18288" bIns="18288" anchor="t">
            <a:spAutoFit/>
          </a:bodyPr>
          <a:lstStyle/>
          <a:p>
            <a:pPr algn="l"/>
            <a:r>
              <a:rPr sz="3600" b="1" i="0">
                <a:solidFill>
                  <a:srgbClr val="F6F4EF"/>
                </a:solidFill>
                <a:latin typeface="Aptos"/>
              </a:rPr>
              <a:t>NT self-drive
trip planning</a:t>
            </a:r>
          </a:p>
        </p:txBody>
      </p:sp>
      <p:sp>
        <p:nvSpPr>
          <p:cNvPr id="6" name="TextBox 5"/>
          <p:cNvSpPr txBox="1"/>
          <p:nvPr/>
        </p:nvSpPr>
        <p:spPr>
          <a:xfrm>
            <a:off x="658368" y="3063240"/>
            <a:ext cx="5257800" cy="713232"/>
          </a:xfrm>
          <a:prstGeom prst="rect">
            <a:avLst/>
          </a:prstGeom>
          <a:noFill/>
        </p:spPr>
        <p:txBody>
          <a:bodyPr wrap="square" lIns="18288" rIns="18288" tIns="18288" bIns="18288" anchor="t">
            <a:spAutoFit/>
          </a:bodyPr>
          <a:lstStyle/>
          <a:p>
            <a:pPr algn="l"/>
            <a:r>
              <a:rPr sz="1800" b="0" i="0">
                <a:solidFill>
                  <a:srgbClr val="EAF0F9"/>
                </a:solidFill>
                <a:latin typeface="Aptos"/>
              </a:rPr>
              <a:t>AI-assisted route planning for travellers
across the Northern Territory</a:t>
            </a:r>
          </a:p>
        </p:txBody>
      </p:sp>
      <p:sp>
        <p:nvSpPr>
          <p:cNvPr id="7" name="TextBox 6"/>
          <p:cNvSpPr txBox="1"/>
          <p:nvPr/>
        </p:nvSpPr>
        <p:spPr>
          <a:xfrm>
            <a:off x="658368" y="5468112"/>
            <a:ext cx="4114800" cy="502920"/>
          </a:xfrm>
          <a:prstGeom prst="rect">
            <a:avLst/>
          </a:prstGeom>
          <a:noFill/>
        </p:spPr>
        <p:txBody>
          <a:bodyPr wrap="square" lIns="18288" rIns="18288" tIns="18288" bIns="18288" anchor="t">
            <a:spAutoFit/>
          </a:bodyPr>
          <a:lstStyle/>
          <a:p>
            <a:pPr algn="l"/>
            <a:r>
              <a:rPr sz="1200" b="0" i="0">
                <a:solidFill>
                  <a:srgbClr val="A8B1C2"/>
                </a:solidFill>
                <a:latin typeface="Aptos"/>
              </a:rPr>
              <a:t>PRT691 project presentation
Darwin and External 06</a:t>
            </a:r>
          </a:p>
        </p:txBody>
      </p:sp>
      <p:sp>
        <p:nvSpPr>
          <p:cNvPr id="8" name="TextBox 7"/>
          <p:cNvSpPr txBox="1"/>
          <p:nvPr/>
        </p:nvSpPr>
        <p:spPr>
          <a:xfrm>
            <a:off x="7059168" y="5303520"/>
            <a:ext cx="4251960" cy="566928"/>
          </a:xfrm>
          <a:prstGeom prst="rect">
            <a:avLst/>
          </a:prstGeom>
          <a:noFill/>
        </p:spPr>
        <p:txBody>
          <a:bodyPr wrap="square" lIns="18288" rIns="18288" tIns="18288" bIns="18288" anchor="t">
            <a:spAutoFit/>
          </a:bodyPr>
          <a:lstStyle/>
          <a:p>
            <a:pPr algn="l"/>
            <a:r>
              <a:rPr sz="1300" b="1" i="0">
                <a:solidFill>
                  <a:srgbClr val="F6F4EF"/>
                </a:solidFill>
                <a:latin typeface="Aptos"/>
              </a:rPr>
              <a:t>A research-informed prototype for bringing route evidence, traveller constraints and human review into one workflow.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01 · THE PROBLEM</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Planning a remote trip means reconciling changing evidence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Terra NT is an advisory planner. The traveller still makes the final decision.</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02</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084831"/>
            <a:ext cx="4754880" cy="411480"/>
          </a:xfrm>
          <a:prstGeom prst="rect">
            <a:avLst/>
          </a:prstGeom>
          <a:noFill/>
        </p:spPr>
        <p:txBody>
          <a:bodyPr wrap="square" lIns="18288" rIns="18288" tIns="18288" bIns="18288" anchor="t">
            <a:spAutoFit/>
          </a:bodyPr>
          <a:lstStyle/>
          <a:p>
            <a:pPr algn="l"/>
            <a:r>
              <a:rPr sz="2200" b="1" i="0">
                <a:solidFill>
                  <a:srgbClr val="F6F4EF"/>
                </a:solidFill>
                <a:latin typeface="Aptos"/>
              </a:rPr>
              <a:t>A route decision depends on more than a map.</a:t>
            </a:r>
          </a:p>
        </p:txBody>
      </p:sp>
      <p:sp>
        <p:nvSpPr>
          <p:cNvPr id="8" name="TextBox 7"/>
          <p:cNvSpPr txBox="1"/>
          <p:nvPr/>
        </p:nvSpPr>
        <p:spPr>
          <a:xfrm>
            <a:off x="658368" y="2578608"/>
            <a:ext cx="4754880" cy="566928"/>
          </a:xfrm>
          <a:prstGeom prst="rect">
            <a:avLst/>
          </a:prstGeom>
          <a:noFill/>
        </p:spPr>
        <p:txBody>
          <a:bodyPr wrap="square" lIns="18288" rIns="18288" tIns="18288" bIns="18288" anchor="t">
            <a:spAutoFit/>
          </a:bodyPr>
          <a:lstStyle/>
          <a:p>
            <a:pPr algn="l"/>
            <a:r>
              <a:rPr sz="1500" b="0" i="0">
                <a:solidFill>
                  <a:srgbClr val="A8B1C2"/>
                </a:solidFill>
                <a:latin typeface="Aptos"/>
              </a:rPr>
              <a:t>Travellers combine information from different owners, with different update cycles and different levels of authority.</a:t>
            </a:r>
          </a:p>
        </p:txBody>
      </p:sp>
      <p:sp>
        <p:nvSpPr>
          <p:cNvPr id="9" name="Rounded Rectangle 8"/>
          <p:cNvSpPr/>
          <p:nvPr/>
        </p:nvSpPr>
        <p:spPr>
          <a:xfrm>
            <a:off x="685800" y="3456432"/>
            <a:ext cx="1298448" cy="438912"/>
          </a:xfrm>
          <a:prstGeom prst="roundRect">
            <a:avLst>
              <a:gd name="adj" fmla="val 12000"/>
            </a:avLst>
          </a:prstGeom>
          <a:solidFill>
            <a:srgbClr val="09111F"/>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75303"/>
            <a:ext cx="1298448" cy="164592"/>
          </a:xfrm>
          <a:prstGeom prst="rect">
            <a:avLst/>
          </a:prstGeom>
          <a:noFill/>
        </p:spPr>
        <p:txBody>
          <a:bodyPr wrap="square" lIns="18288" rIns="18288" tIns="18288" bIns="18288" anchor="t">
            <a:spAutoFit/>
          </a:bodyPr>
          <a:lstStyle/>
          <a:p>
            <a:pPr algn="ctr"/>
            <a:r>
              <a:rPr sz="1000" b="1" i="0">
                <a:solidFill>
                  <a:srgbClr val="F18F4E"/>
                </a:solidFill>
                <a:latin typeface="Aptos"/>
              </a:rPr>
              <a:t>ROAD</a:t>
            </a:r>
          </a:p>
        </p:txBody>
      </p:sp>
      <p:sp>
        <p:nvSpPr>
          <p:cNvPr id="11" name="Rounded Rectangle 10"/>
          <p:cNvSpPr/>
          <p:nvPr/>
        </p:nvSpPr>
        <p:spPr>
          <a:xfrm>
            <a:off x="2258568" y="3456432"/>
            <a:ext cx="1298448" cy="438912"/>
          </a:xfrm>
          <a:prstGeom prst="roundRect">
            <a:avLst>
              <a:gd name="adj" fmla="val 12000"/>
            </a:avLst>
          </a:prstGeom>
          <a:solidFill>
            <a:srgbClr val="09111F"/>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8568" y="3575303"/>
            <a:ext cx="1298448" cy="164592"/>
          </a:xfrm>
          <a:prstGeom prst="rect">
            <a:avLst/>
          </a:prstGeom>
          <a:noFill/>
        </p:spPr>
        <p:txBody>
          <a:bodyPr wrap="square" lIns="18288" rIns="18288" tIns="18288" bIns="18288" anchor="t">
            <a:spAutoFit/>
          </a:bodyPr>
          <a:lstStyle/>
          <a:p>
            <a:pPr algn="ctr"/>
            <a:r>
              <a:rPr sz="1000" b="1" i="0">
                <a:solidFill>
                  <a:srgbClr val="58C4B2"/>
                </a:solidFill>
                <a:latin typeface="Aptos"/>
              </a:rPr>
              <a:t>PARK</a:t>
            </a:r>
          </a:p>
        </p:txBody>
      </p:sp>
      <p:sp>
        <p:nvSpPr>
          <p:cNvPr id="13" name="Rounded Rectangle 12"/>
          <p:cNvSpPr/>
          <p:nvPr/>
        </p:nvSpPr>
        <p:spPr>
          <a:xfrm>
            <a:off x="3831335" y="3456432"/>
            <a:ext cx="1298448" cy="438912"/>
          </a:xfrm>
          <a:prstGeom prst="roundRect">
            <a:avLst>
              <a:gd name="adj" fmla="val 12000"/>
            </a:avLst>
          </a:prstGeom>
          <a:solidFill>
            <a:srgbClr val="09111F"/>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5" y="3575303"/>
            <a:ext cx="1298448" cy="164592"/>
          </a:xfrm>
          <a:prstGeom prst="rect">
            <a:avLst/>
          </a:prstGeom>
          <a:noFill/>
        </p:spPr>
        <p:txBody>
          <a:bodyPr wrap="square" lIns="18288" rIns="18288" tIns="18288" bIns="18288" anchor="t">
            <a:spAutoFit/>
          </a:bodyPr>
          <a:lstStyle/>
          <a:p>
            <a:pPr algn="ctr"/>
            <a:r>
              <a:rPr sz="1000" b="1" i="0">
                <a:solidFill>
                  <a:srgbClr val="E16B6A"/>
                </a:solidFill>
                <a:latin typeface="Aptos"/>
              </a:rPr>
              <a:t>PERMIT</a:t>
            </a:r>
          </a:p>
        </p:txBody>
      </p:sp>
      <p:sp>
        <p:nvSpPr>
          <p:cNvPr id="15" name="Rounded Rectangle 14"/>
          <p:cNvSpPr/>
          <p:nvPr/>
        </p:nvSpPr>
        <p:spPr>
          <a:xfrm>
            <a:off x="685800" y="4169663"/>
            <a:ext cx="1298448" cy="438912"/>
          </a:xfrm>
          <a:prstGeom prst="roundRect">
            <a:avLst>
              <a:gd name="adj" fmla="val 12000"/>
            </a:avLst>
          </a:prstGeom>
          <a:solidFill>
            <a:srgbClr val="09111F"/>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88536"/>
            <a:ext cx="1298448" cy="164592"/>
          </a:xfrm>
          <a:prstGeom prst="rect">
            <a:avLst/>
          </a:prstGeom>
          <a:noFill/>
        </p:spPr>
        <p:txBody>
          <a:bodyPr wrap="square" lIns="18288" rIns="18288" tIns="18288" bIns="18288" anchor="t">
            <a:spAutoFit/>
          </a:bodyPr>
          <a:lstStyle/>
          <a:p>
            <a:pPr algn="ctr"/>
            <a:r>
              <a:rPr sz="1000" b="1" i="0">
                <a:solidFill>
                  <a:srgbClr val="6874F4"/>
                </a:solidFill>
                <a:latin typeface="Aptos"/>
              </a:rPr>
              <a:t>FUEL</a:t>
            </a:r>
          </a:p>
        </p:txBody>
      </p:sp>
      <p:sp>
        <p:nvSpPr>
          <p:cNvPr id="17" name="Rounded Rectangle 16"/>
          <p:cNvSpPr/>
          <p:nvPr/>
        </p:nvSpPr>
        <p:spPr>
          <a:xfrm>
            <a:off x="2258568" y="4169663"/>
            <a:ext cx="1298448" cy="438912"/>
          </a:xfrm>
          <a:prstGeom prst="roundRect">
            <a:avLst>
              <a:gd name="adj" fmla="val 12000"/>
            </a:avLst>
          </a:prstGeom>
          <a:solidFill>
            <a:srgbClr val="09111F"/>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58568" y="4288536"/>
            <a:ext cx="1298448" cy="164592"/>
          </a:xfrm>
          <a:prstGeom prst="rect">
            <a:avLst/>
          </a:prstGeom>
          <a:noFill/>
        </p:spPr>
        <p:txBody>
          <a:bodyPr wrap="square" lIns="18288" rIns="18288" tIns="18288" bIns="18288" anchor="t">
            <a:spAutoFit/>
          </a:bodyPr>
          <a:lstStyle/>
          <a:p>
            <a:pPr algn="ctr"/>
            <a:r>
              <a:rPr sz="1000" b="1" i="0">
                <a:solidFill>
                  <a:srgbClr val="F18F4E"/>
                </a:solidFill>
                <a:latin typeface="Aptos"/>
              </a:rPr>
              <a:t>WEATHER</a:t>
            </a:r>
          </a:p>
        </p:txBody>
      </p:sp>
      <p:sp>
        <p:nvSpPr>
          <p:cNvPr id="19" name="Rounded Rectangle 18"/>
          <p:cNvSpPr/>
          <p:nvPr/>
        </p:nvSpPr>
        <p:spPr>
          <a:xfrm>
            <a:off x="3831335" y="4169663"/>
            <a:ext cx="1298448" cy="438912"/>
          </a:xfrm>
          <a:prstGeom prst="roundRect">
            <a:avLst>
              <a:gd name="adj" fmla="val 12000"/>
            </a:avLst>
          </a:prstGeom>
          <a:solidFill>
            <a:srgbClr val="09111F"/>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5" y="4288536"/>
            <a:ext cx="1298448" cy="164592"/>
          </a:xfrm>
          <a:prstGeom prst="rect">
            <a:avLst/>
          </a:prstGeom>
          <a:noFill/>
        </p:spPr>
        <p:txBody>
          <a:bodyPr wrap="square" lIns="18288" rIns="18288" tIns="18288" bIns="18288" anchor="t">
            <a:spAutoFit/>
          </a:bodyPr>
          <a:lstStyle/>
          <a:p>
            <a:pPr algn="ctr"/>
            <a:r>
              <a:rPr sz="1000" b="1" i="0">
                <a:solidFill>
                  <a:srgbClr val="58C4B2"/>
                </a:solidFill>
                <a:latin typeface="Aptos"/>
              </a:rPr>
              <a:t>OPERATOR</a:t>
            </a:r>
          </a:p>
        </p:txBody>
      </p:sp>
      <p:cxnSp>
        <p:nvCxnSpPr>
          <p:cNvPr id="21" name="Connector 20"/>
          <p:cNvCxnSpPr/>
          <p:nvPr/>
        </p:nvCxnSpPr>
        <p:spPr>
          <a:xfrm>
            <a:off x="5376672" y="3977639"/>
            <a:ext cx="1188720" cy="0"/>
          </a:xfrm>
          <a:prstGeom prst="line">
            <a:avLst/>
          </a:prstGeom>
          <a:ln w="25400">
            <a:solidFill>
              <a:srgbClr val="F18F4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522976" y="3246120"/>
            <a:ext cx="960120" cy="502920"/>
          </a:xfrm>
          <a:prstGeom prst="rect">
            <a:avLst/>
          </a:prstGeom>
          <a:noFill/>
        </p:spPr>
        <p:txBody>
          <a:bodyPr wrap="square" lIns="18288" rIns="18288" tIns="18288" bIns="18288" anchor="t">
            <a:spAutoFit/>
          </a:bodyPr>
          <a:lstStyle/>
          <a:p>
            <a:pPr algn="ctr"/>
            <a:r>
              <a:rPr sz="1300" b="1" i="0">
                <a:solidFill>
                  <a:srgbClr val="F6F4EF"/>
                </a:solidFill>
                <a:latin typeface="Aptos"/>
              </a:rPr>
              <a:t>traveller
constraints</a:t>
            </a:r>
          </a:p>
        </p:txBody>
      </p:sp>
      <p:sp>
        <p:nvSpPr>
          <p:cNvPr id="23" name="Rounded Rectangle 22"/>
          <p:cNvSpPr/>
          <p:nvPr/>
        </p:nvSpPr>
        <p:spPr>
          <a:xfrm>
            <a:off x="6766560" y="2487168"/>
            <a:ext cx="4535424" cy="283464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4032" y="2816352"/>
            <a:ext cx="3749039" cy="228600"/>
          </a:xfrm>
          <a:prstGeom prst="rect">
            <a:avLst/>
          </a:prstGeom>
          <a:noFill/>
        </p:spPr>
        <p:txBody>
          <a:bodyPr wrap="square" lIns="18288" rIns="18288" tIns="18288" bIns="18288" anchor="t">
            <a:spAutoFit/>
          </a:bodyPr>
          <a:lstStyle/>
          <a:p>
            <a:pPr algn="l"/>
            <a:r>
              <a:rPr sz="1200" b="1" i="0">
                <a:solidFill>
                  <a:srgbClr val="F18F4E"/>
                </a:solidFill>
                <a:latin typeface="Aptos"/>
              </a:rPr>
              <a:t>REVIEWABLE ITINERARY</a:t>
            </a:r>
          </a:p>
        </p:txBody>
      </p:sp>
      <p:sp>
        <p:nvSpPr>
          <p:cNvPr id="25" name="TextBox 24"/>
          <p:cNvSpPr txBox="1"/>
          <p:nvPr/>
        </p:nvSpPr>
        <p:spPr>
          <a:xfrm>
            <a:off x="7114032" y="3246120"/>
            <a:ext cx="3657600" cy="1078992"/>
          </a:xfrm>
          <a:prstGeom prst="rect">
            <a:avLst/>
          </a:prstGeom>
          <a:noFill/>
        </p:spPr>
        <p:txBody>
          <a:bodyPr wrap="square" lIns="18288" rIns="18288" tIns="18288" bIns="18288" anchor="t">
            <a:spAutoFit/>
          </a:bodyPr>
          <a:lstStyle/>
          <a:p>
            <a:pPr algn="l"/>
            <a:r>
              <a:rPr sz="2100" b="1" i="0">
                <a:solidFill>
                  <a:srgbClr val="F6F4EF"/>
                </a:solidFill>
                <a:latin typeface="Aptos"/>
              </a:rPr>
              <a:t>Route-relevant evidence
+ vehicle, dates and experience
+ clear uncertainty</a:t>
            </a:r>
          </a:p>
        </p:txBody>
      </p:sp>
      <p:sp>
        <p:nvSpPr>
          <p:cNvPr id="26" name="TextBox 25"/>
          <p:cNvSpPr txBox="1"/>
          <p:nvPr/>
        </p:nvSpPr>
        <p:spPr>
          <a:xfrm>
            <a:off x="7114032" y="4681728"/>
            <a:ext cx="3566160" cy="475488"/>
          </a:xfrm>
          <a:prstGeom prst="rect">
            <a:avLst/>
          </a:prstGeom>
          <a:noFill/>
        </p:spPr>
        <p:txBody>
          <a:bodyPr wrap="square" lIns="18288" rIns="18288" tIns="18288" bIns="18288" anchor="t">
            <a:spAutoFit/>
          </a:bodyPr>
          <a:lstStyle/>
          <a:p>
            <a:pPr algn="l"/>
            <a:r>
              <a:rPr sz="1300" b="0" i="0">
                <a:solidFill>
                  <a:srgbClr val="A8B1C2"/>
                </a:solidFill>
                <a:latin typeface="Aptos"/>
              </a:rPr>
              <a:t>AI helps assemble and explain. It does not verify a road, closure or permit in real time.</a:t>
            </a:r>
          </a:p>
        </p:txBody>
      </p:sp>
      <p:cxnSp>
        <p:nvCxnSpPr>
          <p:cNvPr id="27" name="Connector 26"/>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PRT691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02 · RESEARCH</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Stakeholder evidence made trust a product requirement</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Eight coded response sets show why freshness, source authority and route feasibility lead the design.</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03</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2029968"/>
            <a:ext cx="4389120" cy="201168"/>
          </a:xfrm>
          <a:prstGeom prst="rect">
            <a:avLst/>
          </a:prstGeom>
          <a:noFill/>
        </p:spPr>
        <p:txBody>
          <a:bodyPr wrap="square" lIns="18288" rIns="18288" tIns="18288" bIns="18288" anchor="t">
            <a:spAutoFit/>
          </a:bodyPr>
          <a:lstStyle/>
          <a:p>
            <a:pPr algn="l"/>
            <a:r>
              <a:rPr sz="1000" b="1" i="0">
                <a:solidFill>
                  <a:srgbClr val="F18F4E"/>
                </a:solidFill>
                <a:latin typeface="Aptos"/>
              </a:rPr>
              <a:t>INTERVIEW THEME PRESENCE</a:t>
            </a:r>
          </a:p>
        </p:txBody>
      </p:sp>
      <p:sp>
        <p:nvSpPr>
          <p:cNvPr id="8" name="TextBox 7"/>
          <p:cNvSpPr txBox="1"/>
          <p:nvPr/>
        </p:nvSpPr>
        <p:spPr>
          <a:xfrm>
            <a:off x="749808" y="2377440"/>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Freshness / outdated information</a:t>
            </a:r>
          </a:p>
        </p:txBody>
      </p:sp>
      <p:sp>
        <p:nvSpPr>
          <p:cNvPr id="9" name="Rounded Rectangle 8"/>
          <p:cNvSpPr/>
          <p:nvPr/>
        </p:nvSpPr>
        <p:spPr>
          <a:xfrm>
            <a:off x="3584448" y="2404872"/>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84448" y="2404872"/>
            <a:ext cx="18288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04688" y="2368296"/>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8</a:t>
            </a:r>
          </a:p>
        </p:txBody>
      </p:sp>
      <p:sp>
        <p:nvSpPr>
          <p:cNvPr id="12" name="TextBox 11"/>
          <p:cNvSpPr txBox="1"/>
          <p:nvPr/>
        </p:nvSpPr>
        <p:spPr>
          <a:xfrm>
            <a:off x="749808" y="2679192"/>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Source transparency and trust</a:t>
            </a:r>
          </a:p>
        </p:txBody>
      </p:sp>
      <p:sp>
        <p:nvSpPr>
          <p:cNvPr id="13" name="Rounded Rectangle 12"/>
          <p:cNvSpPr/>
          <p:nvPr/>
        </p:nvSpPr>
        <p:spPr>
          <a:xfrm>
            <a:off x="3584448" y="2706624"/>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84448" y="2706624"/>
            <a:ext cx="18288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670048"/>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8</a:t>
            </a:r>
          </a:p>
        </p:txBody>
      </p:sp>
      <p:sp>
        <p:nvSpPr>
          <p:cNvPr id="16" name="TextBox 15"/>
          <p:cNvSpPr txBox="1"/>
          <p:nvPr/>
        </p:nvSpPr>
        <p:spPr>
          <a:xfrm>
            <a:off x="749808" y="2980944"/>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Fragmented planning information</a:t>
            </a:r>
          </a:p>
        </p:txBody>
      </p:sp>
      <p:sp>
        <p:nvSpPr>
          <p:cNvPr id="17" name="Rounded Rectangle 16"/>
          <p:cNvSpPr/>
          <p:nvPr/>
        </p:nvSpPr>
        <p:spPr>
          <a:xfrm>
            <a:off x="3584448" y="3008376"/>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84448" y="3008376"/>
            <a:ext cx="16002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2971800"/>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7</a:t>
            </a:r>
          </a:p>
        </p:txBody>
      </p:sp>
      <p:sp>
        <p:nvSpPr>
          <p:cNvPr id="20" name="TextBox 19"/>
          <p:cNvSpPr txBox="1"/>
          <p:nvPr/>
        </p:nvSpPr>
        <p:spPr>
          <a:xfrm>
            <a:off x="749808" y="3282696"/>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Vehicle and route suitability</a:t>
            </a:r>
          </a:p>
        </p:txBody>
      </p:sp>
      <p:sp>
        <p:nvSpPr>
          <p:cNvPr id="21" name="Rounded Rectangle 20"/>
          <p:cNvSpPr/>
          <p:nvPr/>
        </p:nvSpPr>
        <p:spPr>
          <a:xfrm>
            <a:off x="3584448" y="3310127"/>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84448" y="3310127"/>
            <a:ext cx="16002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4688" y="3273552"/>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7</a:t>
            </a:r>
          </a:p>
        </p:txBody>
      </p:sp>
      <p:sp>
        <p:nvSpPr>
          <p:cNvPr id="24" name="TextBox 23"/>
          <p:cNvSpPr txBox="1"/>
          <p:nvPr/>
        </p:nvSpPr>
        <p:spPr>
          <a:xfrm>
            <a:off x="749808" y="3584448"/>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Fuel and remote-area safety</a:t>
            </a:r>
          </a:p>
        </p:txBody>
      </p:sp>
      <p:sp>
        <p:nvSpPr>
          <p:cNvPr id="25" name="Rounded Rectangle 24"/>
          <p:cNvSpPr/>
          <p:nvPr/>
        </p:nvSpPr>
        <p:spPr>
          <a:xfrm>
            <a:off x="3584448" y="3611879"/>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84448" y="3611879"/>
            <a:ext cx="16002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04688" y="3575304"/>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7</a:t>
            </a:r>
          </a:p>
        </p:txBody>
      </p:sp>
      <p:sp>
        <p:nvSpPr>
          <p:cNvPr id="28" name="TextBox 27"/>
          <p:cNvSpPr txBox="1"/>
          <p:nvPr/>
        </p:nvSpPr>
        <p:spPr>
          <a:xfrm>
            <a:off x="749808" y="3886200"/>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Alternative routes / disruption</a:t>
            </a:r>
          </a:p>
        </p:txBody>
      </p:sp>
      <p:sp>
        <p:nvSpPr>
          <p:cNvPr id="29" name="Rounded Rectangle 28"/>
          <p:cNvSpPr/>
          <p:nvPr/>
        </p:nvSpPr>
        <p:spPr>
          <a:xfrm>
            <a:off x="3584448" y="3913632"/>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84448" y="3913632"/>
            <a:ext cx="16002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04688" y="3877056"/>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7</a:t>
            </a:r>
          </a:p>
        </p:txBody>
      </p:sp>
      <p:sp>
        <p:nvSpPr>
          <p:cNvPr id="32" name="TextBox 31"/>
          <p:cNvSpPr txBox="1"/>
          <p:nvPr/>
        </p:nvSpPr>
        <p:spPr>
          <a:xfrm>
            <a:off x="749808" y="4187952"/>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Permit / access clarity</a:t>
            </a:r>
          </a:p>
        </p:txBody>
      </p:sp>
      <p:sp>
        <p:nvSpPr>
          <p:cNvPr id="33" name="Rounded Rectangle 32"/>
          <p:cNvSpPr/>
          <p:nvPr/>
        </p:nvSpPr>
        <p:spPr>
          <a:xfrm>
            <a:off x="3584448" y="4215384"/>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584448" y="4215384"/>
            <a:ext cx="11430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04688" y="4178808"/>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5</a:t>
            </a:r>
          </a:p>
        </p:txBody>
      </p:sp>
      <p:sp>
        <p:nvSpPr>
          <p:cNvPr id="36" name="TextBox 35"/>
          <p:cNvSpPr txBox="1"/>
          <p:nvPr/>
        </p:nvSpPr>
        <p:spPr>
          <a:xfrm>
            <a:off x="749808" y="4489704"/>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Human/local knowledge remains relevant</a:t>
            </a:r>
          </a:p>
        </p:txBody>
      </p:sp>
      <p:sp>
        <p:nvSpPr>
          <p:cNvPr id="37" name="Rounded Rectangle 36"/>
          <p:cNvSpPr/>
          <p:nvPr/>
        </p:nvSpPr>
        <p:spPr>
          <a:xfrm>
            <a:off x="3584448" y="4517136"/>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584448" y="4517136"/>
            <a:ext cx="11430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04688" y="4480560"/>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5</a:t>
            </a:r>
          </a:p>
        </p:txBody>
      </p:sp>
      <p:sp>
        <p:nvSpPr>
          <p:cNvPr id="40" name="TextBox 39"/>
          <p:cNvSpPr txBox="1"/>
          <p:nvPr/>
        </p:nvSpPr>
        <p:spPr>
          <a:xfrm>
            <a:off x="749808" y="4791456"/>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Different user constraints</a:t>
            </a:r>
          </a:p>
        </p:txBody>
      </p:sp>
      <p:sp>
        <p:nvSpPr>
          <p:cNvPr id="41" name="Rounded Rectangle 40"/>
          <p:cNvSpPr/>
          <p:nvPr/>
        </p:nvSpPr>
        <p:spPr>
          <a:xfrm>
            <a:off x="3584448" y="4818888"/>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584448" y="4818888"/>
            <a:ext cx="6858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04688" y="4782312"/>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3</a:t>
            </a:r>
          </a:p>
        </p:txBody>
      </p:sp>
      <p:sp>
        <p:nvSpPr>
          <p:cNvPr id="44" name="TextBox 43"/>
          <p:cNvSpPr txBox="1"/>
          <p:nvPr/>
        </p:nvSpPr>
        <p:spPr>
          <a:xfrm>
            <a:off x="749808" y="5093208"/>
            <a:ext cx="2697480" cy="182880"/>
          </a:xfrm>
          <a:prstGeom prst="rect">
            <a:avLst/>
          </a:prstGeom>
          <a:noFill/>
        </p:spPr>
        <p:txBody>
          <a:bodyPr wrap="square" lIns="18288" rIns="18288" tIns="18288" bIns="18288" anchor="t">
            <a:spAutoFit/>
          </a:bodyPr>
          <a:lstStyle/>
          <a:p>
            <a:pPr algn="r"/>
            <a:r>
              <a:rPr sz="850" b="0" i="0">
                <a:solidFill>
                  <a:srgbClr val="EAF0F9"/>
                </a:solidFill>
                <a:latin typeface="Aptos"/>
              </a:rPr>
              <a:t>Local operator accuracy</a:t>
            </a:r>
          </a:p>
        </p:txBody>
      </p:sp>
      <p:sp>
        <p:nvSpPr>
          <p:cNvPr id="45" name="Rounded Rectangle 44"/>
          <p:cNvSpPr/>
          <p:nvPr/>
        </p:nvSpPr>
        <p:spPr>
          <a:xfrm>
            <a:off x="3584448" y="5120640"/>
            <a:ext cx="182880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584448" y="5120640"/>
            <a:ext cx="228600"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04688" y="5084064"/>
            <a:ext cx="228600" cy="182880"/>
          </a:xfrm>
          <a:prstGeom prst="rect">
            <a:avLst/>
          </a:prstGeom>
          <a:noFill/>
        </p:spPr>
        <p:txBody>
          <a:bodyPr wrap="square" lIns="18288" rIns="18288" tIns="18288" bIns="18288" anchor="t">
            <a:spAutoFit/>
          </a:bodyPr>
          <a:lstStyle/>
          <a:p>
            <a:pPr algn="l"/>
            <a:r>
              <a:rPr sz="900" b="1" i="0">
                <a:solidFill>
                  <a:srgbClr val="F6F4EF"/>
                </a:solidFill>
                <a:latin typeface="Aptos"/>
              </a:rPr>
              <a:t>1</a:t>
            </a:r>
          </a:p>
        </p:txBody>
      </p:sp>
      <p:sp>
        <p:nvSpPr>
          <p:cNvPr id="48" name="TextBox 47"/>
          <p:cNvSpPr txBox="1"/>
          <p:nvPr/>
        </p:nvSpPr>
        <p:spPr>
          <a:xfrm>
            <a:off x="2944368" y="5504688"/>
            <a:ext cx="2743200" cy="164592"/>
          </a:xfrm>
          <a:prstGeom prst="rect">
            <a:avLst/>
          </a:prstGeom>
          <a:noFill/>
        </p:spPr>
        <p:txBody>
          <a:bodyPr wrap="square" lIns="18288" rIns="18288" tIns="18288" bIns="18288" anchor="t">
            <a:spAutoFit/>
          </a:bodyPr>
          <a:lstStyle/>
          <a:p>
            <a:pPr algn="l"/>
            <a:r>
              <a:rPr sz="850" b="0" i="1">
                <a:solidFill>
                  <a:srgbClr val="A8B1C2"/>
                </a:solidFill>
                <a:latin typeface="Aptos"/>
              </a:rPr>
              <a:t>Response sets containing the theme (n = 8)</a:t>
            </a:r>
          </a:p>
        </p:txBody>
      </p:sp>
      <p:sp>
        <p:nvSpPr>
          <p:cNvPr id="49" name="TextBox 48"/>
          <p:cNvSpPr txBox="1"/>
          <p:nvPr/>
        </p:nvSpPr>
        <p:spPr>
          <a:xfrm>
            <a:off x="6400800" y="2029968"/>
            <a:ext cx="4846320" cy="201168"/>
          </a:xfrm>
          <a:prstGeom prst="rect">
            <a:avLst/>
          </a:prstGeom>
          <a:noFill/>
        </p:spPr>
        <p:txBody>
          <a:bodyPr wrap="square" lIns="18288" rIns="18288" tIns="18288" bIns="18288" anchor="t">
            <a:spAutoFit/>
          </a:bodyPr>
          <a:lstStyle/>
          <a:p>
            <a:pPr algn="l"/>
            <a:r>
              <a:rPr sz="1000" b="1" i="0">
                <a:solidFill>
                  <a:srgbClr val="58C4B2"/>
                </a:solidFill>
                <a:latin typeface="Aptos"/>
              </a:rPr>
              <a:t>FINDING → DESIGN DECISION</a:t>
            </a:r>
          </a:p>
        </p:txBody>
      </p:sp>
      <p:sp>
        <p:nvSpPr>
          <p:cNvPr id="50" name="Rounded Rectangle 49"/>
          <p:cNvSpPr/>
          <p:nvPr/>
        </p:nvSpPr>
        <p:spPr>
          <a:xfrm>
            <a:off x="6400800" y="2432304"/>
            <a:ext cx="4892040" cy="6583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29400" y="2551176"/>
            <a:ext cx="1417320" cy="365760"/>
          </a:xfrm>
          <a:prstGeom prst="rect">
            <a:avLst/>
          </a:prstGeom>
          <a:noFill/>
        </p:spPr>
        <p:txBody>
          <a:bodyPr wrap="square" lIns="18288" rIns="18288" tIns="18288" bIns="18288" anchor="t">
            <a:spAutoFit/>
          </a:bodyPr>
          <a:lstStyle/>
          <a:p>
            <a:pPr algn="l"/>
            <a:r>
              <a:rPr sz="1250" b="1" i="0">
                <a:solidFill>
                  <a:srgbClr val="F18F4E"/>
                </a:solidFill>
                <a:latin typeface="Aptos"/>
              </a:rPr>
              <a:t>Multiple sources</a:t>
            </a:r>
          </a:p>
        </p:txBody>
      </p:sp>
      <p:sp>
        <p:nvSpPr>
          <p:cNvPr id="52" name="TextBox 51"/>
          <p:cNvSpPr txBox="1"/>
          <p:nvPr/>
        </p:nvSpPr>
        <p:spPr>
          <a:xfrm>
            <a:off x="8165592" y="2551176"/>
            <a:ext cx="2880360" cy="393192"/>
          </a:xfrm>
          <a:prstGeom prst="rect">
            <a:avLst/>
          </a:prstGeom>
          <a:noFill/>
        </p:spPr>
        <p:txBody>
          <a:bodyPr wrap="square" lIns="18288" rIns="18288" tIns="18288" bIns="18288" anchor="t">
            <a:spAutoFit/>
          </a:bodyPr>
          <a:lstStyle/>
          <a:p>
            <a:pPr algn="l"/>
            <a:r>
              <a:rPr sz="1200" b="0" i="0">
                <a:solidFill>
                  <a:srgbClr val="EAF0F9"/>
                </a:solidFill>
                <a:latin typeface="Aptos"/>
              </a:rPr>
              <a:t>One route-specific workflow while keeping source ownership visible.</a:t>
            </a:r>
          </a:p>
        </p:txBody>
      </p:sp>
      <p:sp>
        <p:nvSpPr>
          <p:cNvPr id="53" name="Rounded Rectangle 52"/>
          <p:cNvSpPr/>
          <p:nvPr/>
        </p:nvSpPr>
        <p:spPr>
          <a:xfrm>
            <a:off x="6400800" y="3291840"/>
            <a:ext cx="4892040" cy="6583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29400" y="3410712"/>
            <a:ext cx="1417320" cy="365760"/>
          </a:xfrm>
          <a:prstGeom prst="rect">
            <a:avLst/>
          </a:prstGeom>
          <a:noFill/>
        </p:spPr>
        <p:txBody>
          <a:bodyPr wrap="square" lIns="18288" rIns="18288" tIns="18288" bIns="18288" anchor="t">
            <a:spAutoFit/>
          </a:bodyPr>
          <a:lstStyle/>
          <a:p>
            <a:pPr algn="l"/>
            <a:r>
              <a:rPr sz="1250" b="1" i="0">
                <a:solidFill>
                  <a:srgbClr val="F18F4E"/>
                </a:solidFill>
                <a:latin typeface="Aptos"/>
              </a:rPr>
              <a:t>Authority + freshness</a:t>
            </a:r>
          </a:p>
        </p:txBody>
      </p:sp>
      <p:sp>
        <p:nvSpPr>
          <p:cNvPr id="55" name="TextBox 54"/>
          <p:cNvSpPr txBox="1"/>
          <p:nvPr/>
        </p:nvSpPr>
        <p:spPr>
          <a:xfrm>
            <a:off x="8165592" y="3410712"/>
            <a:ext cx="2880360" cy="393192"/>
          </a:xfrm>
          <a:prstGeom prst="rect">
            <a:avLst/>
          </a:prstGeom>
          <a:noFill/>
        </p:spPr>
        <p:txBody>
          <a:bodyPr wrap="square" lIns="18288" rIns="18288" tIns="18288" bIns="18288" anchor="t">
            <a:spAutoFit/>
          </a:bodyPr>
          <a:lstStyle/>
          <a:p>
            <a:pPr algn="l"/>
            <a:r>
              <a:rPr sz="1200" b="0" i="0">
                <a:solidFill>
                  <a:srgbClr val="EAF0F9"/>
                </a:solidFill>
                <a:latin typeface="Aptos"/>
              </a:rPr>
              <a:t>Show source type and last-checked context as core evidence.</a:t>
            </a:r>
          </a:p>
        </p:txBody>
      </p:sp>
      <p:sp>
        <p:nvSpPr>
          <p:cNvPr id="56" name="Rounded Rectangle 55"/>
          <p:cNvSpPr/>
          <p:nvPr/>
        </p:nvSpPr>
        <p:spPr>
          <a:xfrm>
            <a:off x="6400800" y="4151376"/>
            <a:ext cx="4892040" cy="6583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29400" y="4270248"/>
            <a:ext cx="1417320" cy="365760"/>
          </a:xfrm>
          <a:prstGeom prst="rect">
            <a:avLst/>
          </a:prstGeom>
          <a:noFill/>
        </p:spPr>
        <p:txBody>
          <a:bodyPr wrap="square" lIns="18288" rIns="18288" tIns="18288" bIns="18288" anchor="t">
            <a:spAutoFit/>
          </a:bodyPr>
          <a:lstStyle/>
          <a:p>
            <a:pPr algn="l"/>
            <a:r>
              <a:rPr sz="1250" b="1" i="0">
                <a:solidFill>
                  <a:srgbClr val="F18F4E"/>
                </a:solidFill>
                <a:latin typeface="Aptos"/>
              </a:rPr>
              <a:t>Vehicle suitability</a:t>
            </a:r>
          </a:p>
        </p:txBody>
      </p:sp>
      <p:sp>
        <p:nvSpPr>
          <p:cNvPr id="58" name="TextBox 57"/>
          <p:cNvSpPr txBox="1"/>
          <p:nvPr/>
        </p:nvSpPr>
        <p:spPr>
          <a:xfrm>
            <a:off x="8165592" y="4270248"/>
            <a:ext cx="2880360" cy="393192"/>
          </a:xfrm>
          <a:prstGeom prst="rect">
            <a:avLst/>
          </a:prstGeom>
          <a:noFill/>
        </p:spPr>
        <p:txBody>
          <a:bodyPr wrap="square" lIns="18288" rIns="18288" tIns="18288" bIns="18288" anchor="t">
            <a:spAutoFit/>
          </a:bodyPr>
          <a:lstStyle/>
          <a:p>
            <a:pPr algn="l"/>
            <a:r>
              <a:rPr sz="1200" b="0" i="0">
                <a:solidFill>
                  <a:srgbClr val="EAF0F9"/>
                </a:solidFill>
                <a:latin typeface="Aptos"/>
              </a:rPr>
              <a:t>Capture 2WD, 4WD and towing constraints before route advice.</a:t>
            </a:r>
          </a:p>
        </p:txBody>
      </p:sp>
      <p:sp>
        <p:nvSpPr>
          <p:cNvPr id="59" name="TextBox 58"/>
          <p:cNvSpPr txBox="1"/>
          <p:nvPr/>
        </p:nvSpPr>
        <p:spPr>
          <a:xfrm>
            <a:off x="6419088" y="5230368"/>
            <a:ext cx="914400" cy="182880"/>
          </a:xfrm>
          <a:prstGeom prst="rect">
            <a:avLst/>
          </a:prstGeom>
          <a:noFill/>
        </p:spPr>
        <p:txBody>
          <a:bodyPr wrap="square" lIns="18288" rIns="18288" tIns="18288" bIns="18288" anchor="t">
            <a:spAutoFit/>
          </a:bodyPr>
          <a:lstStyle/>
          <a:p>
            <a:pPr algn="l"/>
            <a:r>
              <a:rPr sz="1000" b="1" i="0">
                <a:solidFill>
                  <a:srgbClr val="F18F4E"/>
                </a:solidFill>
                <a:latin typeface="Aptos"/>
              </a:rPr>
              <a:t>Data context</a:t>
            </a:r>
          </a:p>
        </p:txBody>
      </p:sp>
      <p:sp>
        <p:nvSpPr>
          <p:cNvPr id="60" name="TextBox 59"/>
          <p:cNvSpPr txBox="1"/>
          <p:nvPr/>
        </p:nvSpPr>
        <p:spPr>
          <a:xfrm>
            <a:off x="7424927" y="5193792"/>
            <a:ext cx="3749039" cy="438912"/>
          </a:xfrm>
          <a:prstGeom prst="rect">
            <a:avLst/>
          </a:prstGeom>
          <a:noFill/>
        </p:spPr>
        <p:txBody>
          <a:bodyPr wrap="square" lIns="18288" rIns="18288" tIns="18288" bIns="18288" anchor="t">
            <a:spAutoFit/>
          </a:bodyPr>
          <a:lstStyle/>
          <a:p>
            <a:pPr algn="l"/>
            <a:r>
              <a:rPr sz="1150" b="0" i="0">
                <a:solidFill>
                  <a:srgbClr val="A8B1C2"/>
                </a:solidFill>
                <a:latin typeface="Aptos"/>
              </a:rPr>
              <a:t>Road, park, permit, fuel, weather and operator records are partial observations of changing conditions, not guarantees of current reality.</a:t>
            </a:r>
          </a:p>
        </p:txBody>
      </p:sp>
      <p:cxnSp>
        <p:nvCxnSpPr>
          <p:cNvPr id="61" name="Connector 60"/>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A2 FIGURE 1 + TABLE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03 · EVOLUTION</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concept narrowed to evidence-grounded advice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Current components are separated from target controls that are still planned.</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04</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075688"/>
            <a:ext cx="594360" cy="228600"/>
          </a:xfrm>
          <a:prstGeom prst="rect">
            <a:avLst/>
          </a:prstGeom>
          <a:noFill/>
        </p:spPr>
        <p:txBody>
          <a:bodyPr wrap="square" lIns="18288" rIns="18288" tIns="18288" bIns="18288" anchor="t">
            <a:spAutoFit/>
          </a:bodyPr>
          <a:lstStyle/>
          <a:p>
            <a:pPr algn="l"/>
            <a:r>
              <a:rPr sz="1200" b="1" i="0">
                <a:solidFill>
                  <a:srgbClr val="F18F4E"/>
                </a:solidFill>
                <a:latin typeface="Aptos"/>
              </a:rPr>
              <a:t>A1</a:t>
            </a:r>
          </a:p>
        </p:txBody>
      </p:sp>
      <p:sp>
        <p:nvSpPr>
          <p:cNvPr id="8" name="TextBox 7"/>
          <p:cNvSpPr txBox="1"/>
          <p:nvPr/>
        </p:nvSpPr>
        <p:spPr>
          <a:xfrm>
            <a:off x="731520" y="2432304"/>
            <a:ext cx="1554480" cy="502920"/>
          </a:xfrm>
          <a:prstGeom prst="rect">
            <a:avLst/>
          </a:prstGeom>
          <a:noFill/>
        </p:spPr>
        <p:txBody>
          <a:bodyPr wrap="square" lIns="18288" rIns="18288" tIns="18288" bIns="18288" anchor="t">
            <a:spAutoFit/>
          </a:bodyPr>
          <a:lstStyle/>
          <a:p>
            <a:pPr algn="l"/>
            <a:r>
              <a:rPr sz="1800" b="1" i="0">
                <a:solidFill>
                  <a:srgbClr val="F6F4EF"/>
                </a:solidFill>
                <a:latin typeface="Aptos"/>
              </a:rPr>
              <a:t>broad self-drive
trip planning</a:t>
            </a:r>
          </a:p>
        </p:txBody>
      </p:sp>
      <p:cxnSp>
        <p:nvCxnSpPr>
          <p:cNvPr id="9" name="Connector 8"/>
          <p:cNvCxnSpPr/>
          <p:nvPr/>
        </p:nvCxnSpPr>
        <p:spPr>
          <a:xfrm>
            <a:off x="2331720" y="2743200"/>
            <a:ext cx="576072"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63240" y="2075688"/>
            <a:ext cx="594360" cy="228600"/>
          </a:xfrm>
          <a:prstGeom prst="rect">
            <a:avLst/>
          </a:prstGeom>
          <a:noFill/>
        </p:spPr>
        <p:txBody>
          <a:bodyPr wrap="square" lIns="18288" rIns="18288" tIns="18288" bIns="18288" anchor="t">
            <a:spAutoFit/>
          </a:bodyPr>
          <a:lstStyle/>
          <a:p>
            <a:pPr algn="l"/>
            <a:r>
              <a:rPr sz="1200" b="1" i="0">
                <a:solidFill>
                  <a:srgbClr val="F18F4E"/>
                </a:solidFill>
                <a:latin typeface="Aptos"/>
              </a:rPr>
              <a:t>A2</a:t>
            </a:r>
          </a:p>
        </p:txBody>
      </p:sp>
      <p:sp>
        <p:nvSpPr>
          <p:cNvPr id="11" name="TextBox 10"/>
          <p:cNvSpPr txBox="1"/>
          <p:nvPr/>
        </p:nvSpPr>
        <p:spPr>
          <a:xfrm>
            <a:off x="3063240" y="2432304"/>
            <a:ext cx="1783080" cy="502920"/>
          </a:xfrm>
          <a:prstGeom prst="rect">
            <a:avLst/>
          </a:prstGeom>
          <a:noFill/>
        </p:spPr>
        <p:txBody>
          <a:bodyPr wrap="square" lIns="18288" rIns="18288" tIns="18288" bIns="18288" anchor="t">
            <a:spAutoFit/>
          </a:bodyPr>
          <a:lstStyle/>
          <a:p>
            <a:pPr algn="l"/>
            <a:r>
              <a:rPr sz="1800" b="1" i="0">
                <a:solidFill>
                  <a:srgbClr val="F6F4EF"/>
                </a:solidFill>
                <a:latin typeface="Aptos"/>
              </a:rPr>
              <a:t>corridor-specific
decision support</a:t>
            </a:r>
          </a:p>
        </p:txBody>
      </p:sp>
      <p:cxnSp>
        <p:nvCxnSpPr>
          <p:cNvPr id="12" name="Connector 11"/>
          <p:cNvCxnSpPr/>
          <p:nvPr/>
        </p:nvCxnSpPr>
        <p:spPr>
          <a:xfrm>
            <a:off x="4882896" y="2743200"/>
            <a:ext cx="530352"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559552" y="2075688"/>
            <a:ext cx="594360" cy="228600"/>
          </a:xfrm>
          <a:prstGeom prst="rect">
            <a:avLst/>
          </a:prstGeom>
          <a:noFill/>
        </p:spPr>
        <p:txBody>
          <a:bodyPr wrap="square" lIns="18288" rIns="18288" tIns="18288" bIns="18288" anchor="t">
            <a:spAutoFit/>
          </a:bodyPr>
          <a:lstStyle/>
          <a:p>
            <a:pPr algn="l"/>
            <a:r>
              <a:rPr sz="1200" b="1" i="0">
                <a:solidFill>
                  <a:srgbClr val="58C4B2"/>
                </a:solidFill>
                <a:latin typeface="Aptos"/>
              </a:rPr>
              <a:t>NOW</a:t>
            </a:r>
          </a:p>
        </p:txBody>
      </p:sp>
      <p:sp>
        <p:nvSpPr>
          <p:cNvPr id="14" name="TextBox 13"/>
          <p:cNvSpPr txBox="1"/>
          <p:nvPr/>
        </p:nvSpPr>
        <p:spPr>
          <a:xfrm>
            <a:off x="5559552" y="2432304"/>
            <a:ext cx="2029968" cy="502920"/>
          </a:xfrm>
          <a:prstGeom prst="rect">
            <a:avLst/>
          </a:prstGeom>
          <a:noFill/>
        </p:spPr>
        <p:txBody>
          <a:bodyPr wrap="square" lIns="18288" rIns="18288" tIns="18288" bIns="18288" anchor="t">
            <a:spAutoFit/>
          </a:bodyPr>
          <a:lstStyle/>
          <a:p>
            <a:pPr algn="l"/>
            <a:r>
              <a:rPr sz="1800" b="1" i="0">
                <a:solidFill>
                  <a:srgbClr val="F6F4EF"/>
                </a:solidFill>
                <a:latin typeface="Aptos"/>
              </a:rPr>
              <a:t>Flutter app +
file-based RAG + Gemini</a:t>
            </a:r>
          </a:p>
        </p:txBody>
      </p:sp>
      <p:cxnSp>
        <p:nvCxnSpPr>
          <p:cNvPr id="15" name="Connector 14"/>
          <p:cNvCxnSpPr/>
          <p:nvPr/>
        </p:nvCxnSpPr>
        <p:spPr>
          <a:xfrm>
            <a:off x="7699248" y="2743200"/>
            <a:ext cx="512064"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48472" y="2075688"/>
            <a:ext cx="822960" cy="228600"/>
          </a:xfrm>
          <a:prstGeom prst="rect">
            <a:avLst/>
          </a:prstGeom>
          <a:noFill/>
        </p:spPr>
        <p:txBody>
          <a:bodyPr wrap="square" lIns="18288" rIns="18288" tIns="18288" bIns="18288" anchor="t">
            <a:spAutoFit/>
          </a:bodyPr>
          <a:lstStyle/>
          <a:p>
            <a:pPr algn="l"/>
            <a:r>
              <a:rPr sz="1200" b="1" i="0">
                <a:solidFill>
                  <a:srgbClr val="6874F4"/>
                </a:solidFill>
                <a:latin typeface="Aptos"/>
              </a:rPr>
              <a:t>TARGET</a:t>
            </a:r>
          </a:p>
        </p:txBody>
      </p:sp>
      <p:sp>
        <p:nvSpPr>
          <p:cNvPr id="17" name="TextBox 16"/>
          <p:cNvSpPr txBox="1"/>
          <p:nvPr/>
        </p:nvSpPr>
        <p:spPr>
          <a:xfrm>
            <a:off x="8348472" y="2432304"/>
            <a:ext cx="2377440" cy="502920"/>
          </a:xfrm>
          <a:prstGeom prst="rect">
            <a:avLst/>
          </a:prstGeom>
          <a:noFill/>
        </p:spPr>
        <p:txBody>
          <a:bodyPr wrap="square" lIns="18288" rIns="18288" tIns="18288" bIns="18288" anchor="t">
            <a:spAutoFit/>
          </a:bodyPr>
          <a:lstStyle/>
          <a:p>
            <a:pPr algn="l"/>
            <a:r>
              <a:rPr sz="1800" b="1" i="0">
                <a:solidFill>
                  <a:srgbClr val="F6F4EF"/>
                </a:solidFill>
                <a:latin typeface="Aptos"/>
              </a:rPr>
              <a:t>retrieve → check →
explain a reviewed route</a:t>
            </a:r>
          </a:p>
        </p:txBody>
      </p:sp>
      <p:sp>
        <p:nvSpPr>
          <p:cNvPr id="18" name="Rounded Rectangle 17"/>
          <p:cNvSpPr/>
          <p:nvPr/>
        </p:nvSpPr>
        <p:spPr>
          <a:xfrm>
            <a:off x="777240" y="3877056"/>
            <a:ext cx="10588752" cy="13441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151376"/>
            <a:ext cx="1828800" cy="201168"/>
          </a:xfrm>
          <a:prstGeom prst="rect">
            <a:avLst/>
          </a:prstGeom>
          <a:noFill/>
        </p:spPr>
        <p:txBody>
          <a:bodyPr wrap="square" lIns="18288" rIns="18288" tIns="18288" bIns="18288" anchor="t">
            <a:spAutoFit/>
          </a:bodyPr>
          <a:lstStyle/>
          <a:p>
            <a:pPr algn="l"/>
            <a:r>
              <a:rPr sz="1000" b="1" i="0">
                <a:solidFill>
                  <a:srgbClr val="58C4B2"/>
                </a:solidFill>
                <a:latin typeface="Aptos"/>
              </a:rPr>
              <a:t>CURRENT IMPLEMENTATION</a:t>
            </a:r>
          </a:p>
        </p:txBody>
      </p:sp>
      <p:sp>
        <p:nvSpPr>
          <p:cNvPr id="20" name="TextBox 19"/>
          <p:cNvSpPr txBox="1"/>
          <p:nvPr/>
        </p:nvSpPr>
        <p:spPr>
          <a:xfrm>
            <a:off x="1051560" y="4526280"/>
            <a:ext cx="1828800" cy="347472"/>
          </a:xfrm>
          <a:prstGeom prst="rect">
            <a:avLst/>
          </a:prstGeom>
          <a:noFill/>
        </p:spPr>
        <p:txBody>
          <a:bodyPr wrap="square" lIns="18288" rIns="18288" tIns="18288" bIns="18288" anchor="t">
            <a:spAutoFit/>
          </a:bodyPr>
          <a:lstStyle/>
          <a:p>
            <a:pPr algn="l"/>
            <a:r>
              <a:rPr sz="1300" b="1" i="0">
                <a:solidFill>
                  <a:srgbClr val="EAF0F9"/>
                </a:solidFill>
                <a:latin typeface="Aptos"/>
              </a:rPr>
              <a:t>Authoritative and advisory sources</a:t>
            </a:r>
          </a:p>
        </p:txBody>
      </p:sp>
      <p:sp>
        <p:nvSpPr>
          <p:cNvPr id="21" name="TextBox 20"/>
          <p:cNvSpPr txBox="1"/>
          <p:nvPr/>
        </p:nvSpPr>
        <p:spPr>
          <a:xfrm>
            <a:off x="3090672" y="4517136"/>
            <a:ext cx="320040" cy="310896"/>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2" name="TextBox 21"/>
          <p:cNvSpPr txBox="1"/>
          <p:nvPr/>
        </p:nvSpPr>
        <p:spPr>
          <a:xfrm>
            <a:off x="3547872" y="4526280"/>
            <a:ext cx="1463040" cy="347472"/>
          </a:xfrm>
          <a:prstGeom prst="rect">
            <a:avLst/>
          </a:prstGeom>
          <a:noFill/>
        </p:spPr>
        <p:txBody>
          <a:bodyPr wrap="square" lIns="18288" rIns="18288" tIns="18288" bIns="18288" anchor="t">
            <a:spAutoFit/>
          </a:bodyPr>
          <a:lstStyle/>
          <a:p>
            <a:pPr algn="l"/>
            <a:r>
              <a:rPr sz="1300" b="1" i="0">
                <a:solidFill>
                  <a:srgbClr val="EAF0F9"/>
                </a:solidFill>
                <a:latin typeface="Aptos"/>
              </a:rPr>
              <a:t>curated place records</a:t>
            </a:r>
          </a:p>
        </p:txBody>
      </p:sp>
      <p:sp>
        <p:nvSpPr>
          <p:cNvPr id="23" name="TextBox 22"/>
          <p:cNvSpPr txBox="1"/>
          <p:nvPr/>
        </p:nvSpPr>
        <p:spPr>
          <a:xfrm>
            <a:off x="5166360" y="4517136"/>
            <a:ext cx="320040" cy="310896"/>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4" name="TextBox 23"/>
          <p:cNvSpPr txBox="1"/>
          <p:nvPr/>
        </p:nvSpPr>
        <p:spPr>
          <a:xfrm>
            <a:off x="5596128" y="4526280"/>
            <a:ext cx="1572768" cy="347472"/>
          </a:xfrm>
          <a:prstGeom prst="rect">
            <a:avLst/>
          </a:prstGeom>
          <a:noFill/>
        </p:spPr>
        <p:txBody>
          <a:bodyPr wrap="square" lIns="18288" rIns="18288" tIns="18288" bIns="18288" anchor="t">
            <a:spAutoFit/>
          </a:bodyPr>
          <a:lstStyle/>
          <a:p>
            <a:pPr algn="l"/>
            <a:r>
              <a:rPr sz="1300" b="1" i="0">
                <a:solidFill>
                  <a:srgbClr val="EAF0F9"/>
                </a:solidFill>
                <a:latin typeface="Aptos"/>
              </a:rPr>
              <a:t>Gemini planner service</a:t>
            </a:r>
          </a:p>
        </p:txBody>
      </p:sp>
      <p:sp>
        <p:nvSpPr>
          <p:cNvPr id="25" name="TextBox 24"/>
          <p:cNvSpPr txBox="1"/>
          <p:nvPr/>
        </p:nvSpPr>
        <p:spPr>
          <a:xfrm>
            <a:off x="7315200" y="4517136"/>
            <a:ext cx="320040" cy="310896"/>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6" name="TextBox 25"/>
          <p:cNvSpPr txBox="1"/>
          <p:nvPr/>
        </p:nvSpPr>
        <p:spPr>
          <a:xfrm>
            <a:off x="7754112" y="4526280"/>
            <a:ext cx="1389888" cy="347472"/>
          </a:xfrm>
          <a:prstGeom prst="rect">
            <a:avLst/>
          </a:prstGeom>
          <a:noFill/>
        </p:spPr>
        <p:txBody>
          <a:bodyPr wrap="square" lIns="18288" rIns="18288" tIns="18288" bIns="18288" anchor="t">
            <a:spAutoFit/>
          </a:bodyPr>
          <a:lstStyle/>
          <a:p>
            <a:pPr algn="l"/>
            <a:r>
              <a:rPr sz="1300" b="1" i="0">
                <a:solidFill>
                  <a:srgbClr val="EAF0F9"/>
                </a:solidFill>
                <a:latin typeface="Aptos"/>
              </a:rPr>
              <a:t>structured itinerary</a:t>
            </a:r>
          </a:p>
        </p:txBody>
      </p:sp>
      <p:sp>
        <p:nvSpPr>
          <p:cNvPr id="27" name="TextBox 26"/>
          <p:cNvSpPr txBox="1"/>
          <p:nvPr/>
        </p:nvSpPr>
        <p:spPr>
          <a:xfrm>
            <a:off x="9290304" y="4517136"/>
            <a:ext cx="320040" cy="310896"/>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8" name="TextBox 27"/>
          <p:cNvSpPr txBox="1"/>
          <p:nvPr/>
        </p:nvSpPr>
        <p:spPr>
          <a:xfrm>
            <a:off x="9710928" y="4526280"/>
            <a:ext cx="1280160" cy="347472"/>
          </a:xfrm>
          <a:prstGeom prst="rect">
            <a:avLst/>
          </a:prstGeom>
          <a:noFill/>
        </p:spPr>
        <p:txBody>
          <a:bodyPr wrap="square" lIns="18288" rIns="18288" tIns="18288" bIns="18288" anchor="t">
            <a:spAutoFit/>
          </a:bodyPr>
          <a:lstStyle/>
          <a:p>
            <a:pPr algn="l"/>
            <a:r>
              <a:rPr sz="1300" b="1" i="0">
                <a:solidFill>
                  <a:srgbClr val="EAF0F9"/>
                </a:solidFill>
                <a:latin typeface="Aptos"/>
              </a:rPr>
              <a:t>traveller review</a:t>
            </a:r>
          </a:p>
        </p:txBody>
      </p:sp>
      <p:sp>
        <p:nvSpPr>
          <p:cNvPr id="29" name="TextBox 28"/>
          <p:cNvSpPr txBox="1"/>
          <p:nvPr/>
        </p:nvSpPr>
        <p:spPr>
          <a:xfrm>
            <a:off x="777240" y="5358384"/>
            <a:ext cx="2560320" cy="201168"/>
          </a:xfrm>
          <a:prstGeom prst="rect">
            <a:avLst/>
          </a:prstGeom>
          <a:noFill/>
        </p:spPr>
        <p:txBody>
          <a:bodyPr wrap="square" lIns="18288" rIns="18288" tIns="18288" bIns="18288" anchor="t">
            <a:spAutoFit/>
          </a:bodyPr>
          <a:lstStyle/>
          <a:p>
            <a:pPr algn="l"/>
            <a:r>
              <a:rPr sz="1000" b="1" i="0">
                <a:solidFill>
                  <a:srgbClr val="F18F4E"/>
                </a:solidFill>
                <a:latin typeface="Aptos"/>
              </a:rPr>
              <a:t>WORKSHOP-ALIGNED APPROACH FIT</a:t>
            </a:r>
          </a:p>
        </p:txBody>
      </p:sp>
      <p:sp>
        <p:nvSpPr>
          <p:cNvPr id="30" name="TextBox 29"/>
          <p:cNvSpPr txBox="1"/>
          <p:nvPr/>
        </p:nvSpPr>
        <p:spPr>
          <a:xfrm>
            <a:off x="786384" y="5623560"/>
            <a:ext cx="2514600" cy="201168"/>
          </a:xfrm>
          <a:prstGeom prst="rect">
            <a:avLst/>
          </a:prstGeom>
          <a:noFill/>
        </p:spPr>
        <p:txBody>
          <a:bodyPr wrap="square" lIns="18288" rIns="18288" tIns="18288" bIns="18288" anchor="t">
            <a:spAutoFit/>
          </a:bodyPr>
          <a:lstStyle/>
          <a:p>
            <a:pPr algn="l"/>
            <a:r>
              <a:rPr sz="1050" b="1" i="0">
                <a:solidFill>
                  <a:srgbClr val="EAF0F9"/>
                </a:solidFill>
                <a:latin typeface="Aptos"/>
              </a:rPr>
              <a:t>RAG + rules + constrained wording</a:t>
            </a:r>
          </a:p>
        </p:txBody>
      </p:sp>
      <p:sp>
        <p:nvSpPr>
          <p:cNvPr id="31" name="Rounded Rectangle 30"/>
          <p:cNvSpPr/>
          <p:nvPr/>
        </p:nvSpPr>
        <p:spPr>
          <a:xfrm>
            <a:off x="786384" y="5925312"/>
            <a:ext cx="246888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86384" y="5925312"/>
            <a:ext cx="2221992" cy="146304"/>
          </a:xfrm>
          <a:prstGeom prst="roundRect">
            <a:avLst>
              <a:gd name="adj" fmla="val 12000"/>
            </a:avLst>
          </a:prstGeom>
          <a:solidFill>
            <a:srgbClr val="58C4B2"/>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64991" y="5879592"/>
            <a:ext cx="640080" cy="219456"/>
          </a:xfrm>
          <a:prstGeom prst="rect">
            <a:avLst/>
          </a:prstGeom>
          <a:noFill/>
        </p:spPr>
        <p:txBody>
          <a:bodyPr wrap="square" lIns="18288" rIns="18288" tIns="18288" bIns="18288" anchor="t">
            <a:spAutoFit/>
          </a:bodyPr>
          <a:lstStyle/>
          <a:p>
            <a:pPr algn="l"/>
            <a:r>
              <a:rPr sz="1200" b="1" i="0">
                <a:solidFill>
                  <a:srgbClr val="58C4B2"/>
                </a:solidFill>
                <a:latin typeface="Aptos"/>
              </a:rPr>
              <a:t>4.50 / 5</a:t>
            </a:r>
          </a:p>
        </p:txBody>
      </p:sp>
      <p:sp>
        <p:nvSpPr>
          <p:cNvPr id="34" name="TextBox 33"/>
          <p:cNvSpPr txBox="1"/>
          <p:nvPr/>
        </p:nvSpPr>
        <p:spPr>
          <a:xfrm>
            <a:off x="4425696" y="5623560"/>
            <a:ext cx="2514600" cy="201168"/>
          </a:xfrm>
          <a:prstGeom prst="rect">
            <a:avLst/>
          </a:prstGeom>
          <a:noFill/>
        </p:spPr>
        <p:txBody>
          <a:bodyPr wrap="square" lIns="18288" rIns="18288" tIns="18288" bIns="18288" anchor="t">
            <a:spAutoFit/>
          </a:bodyPr>
          <a:lstStyle/>
          <a:p>
            <a:pPr algn="l"/>
            <a:r>
              <a:rPr sz="1050" b="1" i="0">
                <a:solidFill>
                  <a:srgbClr val="EAF0F9"/>
                </a:solidFill>
                <a:latin typeface="Aptos"/>
              </a:rPr>
              <a:t>General LLM travel planner</a:t>
            </a:r>
          </a:p>
        </p:txBody>
      </p:sp>
      <p:sp>
        <p:nvSpPr>
          <p:cNvPr id="35" name="Rounded Rectangle 34"/>
          <p:cNvSpPr/>
          <p:nvPr/>
        </p:nvSpPr>
        <p:spPr>
          <a:xfrm>
            <a:off x="4425696" y="5925312"/>
            <a:ext cx="246888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425696" y="5925312"/>
            <a:ext cx="1362821" cy="146304"/>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04304" y="5879592"/>
            <a:ext cx="640080" cy="219456"/>
          </a:xfrm>
          <a:prstGeom prst="rect">
            <a:avLst/>
          </a:prstGeom>
          <a:noFill/>
        </p:spPr>
        <p:txBody>
          <a:bodyPr wrap="square" lIns="18288" rIns="18288" tIns="18288" bIns="18288" anchor="t">
            <a:spAutoFit/>
          </a:bodyPr>
          <a:lstStyle/>
          <a:p>
            <a:pPr algn="l"/>
            <a:r>
              <a:rPr sz="1200" b="1" i="0">
                <a:solidFill>
                  <a:srgbClr val="6874F4"/>
                </a:solidFill>
                <a:latin typeface="Aptos"/>
              </a:rPr>
              <a:t>2.76 / 5</a:t>
            </a:r>
          </a:p>
        </p:txBody>
      </p:sp>
      <p:sp>
        <p:nvSpPr>
          <p:cNvPr id="38" name="TextBox 37"/>
          <p:cNvSpPr txBox="1"/>
          <p:nvPr/>
        </p:nvSpPr>
        <p:spPr>
          <a:xfrm>
            <a:off x="8065008" y="5623560"/>
            <a:ext cx="2514600" cy="201168"/>
          </a:xfrm>
          <a:prstGeom prst="rect">
            <a:avLst/>
          </a:prstGeom>
          <a:noFill/>
        </p:spPr>
        <p:txBody>
          <a:bodyPr wrap="square" lIns="18288" rIns="18288" tIns="18288" bIns="18288" anchor="t">
            <a:spAutoFit/>
          </a:bodyPr>
          <a:lstStyle/>
          <a:p>
            <a:pPr algn="l"/>
            <a:r>
              <a:rPr sz="1050" b="1" i="0">
                <a:solidFill>
                  <a:srgbClr val="EAF0F9"/>
                </a:solidFill>
                <a:latin typeface="Aptos"/>
              </a:rPr>
              <a:t>Train / fine-tune a model</a:t>
            </a:r>
          </a:p>
        </p:txBody>
      </p:sp>
      <p:sp>
        <p:nvSpPr>
          <p:cNvPr id="39" name="Rounded Rectangle 38"/>
          <p:cNvSpPr/>
          <p:nvPr/>
        </p:nvSpPr>
        <p:spPr>
          <a:xfrm>
            <a:off x="8065008" y="5925312"/>
            <a:ext cx="2468880" cy="146304"/>
          </a:xfrm>
          <a:prstGeom prst="roundRect">
            <a:avLst>
              <a:gd name="adj" fmla="val 12000"/>
            </a:avLst>
          </a:prstGeom>
          <a:solidFill>
            <a:srgbClr val="1B2B3E"/>
          </a:solidFill>
          <a:ln>
            <a:solidFill>
              <a:srgbClr val="1B2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65008" y="5925312"/>
            <a:ext cx="1046805" cy="146304"/>
          </a:xfrm>
          <a:prstGeom prst="roundRect">
            <a:avLst>
              <a:gd name="adj" fmla="val 12000"/>
            </a:avLst>
          </a:prstGeom>
          <a:solidFill>
            <a:srgbClr val="F18F4E"/>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43616" y="5879592"/>
            <a:ext cx="640080" cy="219456"/>
          </a:xfrm>
          <a:prstGeom prst="rect">
            <a:avLst/>
          </a:prstGeom>
          <a:noFill/>
        </p:spPr>
        <p:txBody>
          <a:bodyPr wrap="square" lIns="18288" rIns="18288" tIns="18288" bIns="18288" anchor="t">
            <a:spAutoFit/>
          </a:bodyPr>
          <a:lstStyle/>
          <a:p>
            <a:pPr algn="l"/>
            <a:r>
              <a:rPr sz="1200" b="1" i="0">
                <a:solidFill>
                  <a:srgbClr val="F18F4E"/>
                </a:solidFill>
                <a:latin typeface="Aptos"/>
              </a:rPr>
              <a:t>2.12 / 5</a:t>
            </a:r>
          </a:p>
        </p:txBody>
      </p:sp>
      <p:cxnSp>
        <p:nvCxnSpPr>
          <p:cNvPr id="42" name="Connector 41"/>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A2 TABLE 4B + SYSTEM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04 · LECTURE → PROJECT</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Data lineage and app structure keep the AI system traceable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The lecture themes map to a concrete flow: source evidence enters the system, gets curated and retrieved, then reaches a reviewable mobile workflow.</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05</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2029968"/>
            <a:ext cx="1828800" cy="201168"/>
          </a:xfrm>
          <a:prstGeom prst="rect">
            <a:avLst/>
          </a:prstGeom>
          <a:noFill/>
        </p:spPr>
        <p:txBody>
          <a:bodyPr wrap="square" lIns="18288" rIns="18288" tIns="18288" bIns="18288" anchor="t">
            <a:spAutoFit/>
          </a:bodyPr>
          <a:lstStyle/>
          <a:p>
            <a:pPr algn="l"/>
            <a:r>
              <a:rPr sz="1000" b="1" i="0">
                <a:solidFill>
                  <a:srgbClr val="F18F4E"/>
                </a:solidFill>
                <a:latin typeface="Aptos"/>
              </a:rPr>
              <a:t>DATA SOURCES</a:t>
            </a:r>
          </a:p>
        </p:txBody>
      </p:sp>
      <p:sp>
        <p:nvSpPr>
          <p:cNvPr id="8" name="Rounded Rectangle 7"/>
          <p:cNvSpPr/>
          <p:nvPr/>
        </p:nvSpPr>
        <p:spPr>
          <a:xfrm>
            <a:off x="749808" y="2377440"/>
            <a:ext cx="2148840" cy="36576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1828800" cy="146304"/>
          </a:xfrm>
          <a:prstGeom prst="rect">
            <a:avLst/>
          </a:prstGeom>
          <a:noFill/>
        </p:spPr>
        <p:txBody>
          <a:bodyPr wrap="square" lIns="18288" rIns="18288" tIns="18288" bIns="18288" anchor="t">
            <a:spAutoFit/>
          </a:bodyPr>
          <a:lstStyle/>
          <a:p>
            <a:pPr algn="l"/>
            <a:r>
              <a:rPr sz="1100" b="1" i="0">
                <a:solidFill>
                  <a:srgbClr val="EAF0F9"/>
                </a:solidFill>
                <a:latin typeface="Aptos"/>
              </a:rPr>
              <a:t>NT Road Report</a:t>
            </a:r>
          </a:p>
        </p:txBody>
      </p:sp>
      <p:sp>
        <p:nvSpPr>
          <p:cNvPr id="10" name="TextBox 9"/>
          <p:cNvSpPr txBox="1"/>
          <p:nvPr/>
        </p:nvSpPr>
        <p:spPr>
          <a:xfrm>
            <a:off x="3054096" y="2450592"/>
            <a:ext cx="1664208" cy="164592"/>
          </a:xfrm>
          <a:prstGeom prst="rect">
            <a:avLst/>
          </a:prstGeom>
          <a:noFill/>
        </p:spPr>
        <p:txBody>
          <a:bodyPr wrap="square" lIns="18288" rIns="18288" tIns="18288" bIns="18288" anchor="t">
            <a:spAutoFit/>
          </a:bodyPr>
          <a:lstStyle/>
          <a:p>
            <a:pPr algn="l"/>
            <a:r>
              <a:rPr sz="1000" b="0" i="0">
                <a:solidFill>
                  <a:srgbClr val="A8B1C2"/>
                </a:solidFill>
                <a:latin typeface="Aptos"/>
              </a:rPr>
              <a:t>road status / access</a:t>
            </a:r>
          </a:p>
        </p:txBody>
      </p:sp>
      <p:sp>
        <p:nvSpPr>
          <p:cNvPr id="11" name="Rounded Rectangle 10"/>
          <p:cNvSpPr/>
          <p:nvPr/>
        </p:nvSpPr>
        <p:spPr>
          <a:xfrm>
            <a:off x="749808" y="2907792"/>
            <a:ext cx="2148840" cy="36576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80944"/>
            <a:ext cx="1828800" cy="146304"/>
          </a:xfrm>
          <a:prstGeom prst="rect">
            <a:avLst/>
          </a:prstGeom>
          <a:noFill/>
        </p:spPr>
        <p:txBody>
          <a:bodyPr wrap="square" lIns="18288" rIns="18288" tIns="18288" bIns="18288" anchor="t">
            <a:spAutoFit/>
          </a:bodyPr>
          <a:lstStyle/>
          <a:p>
            <a:pPr algn="l"/>
            <a:r>
              <a:rPr sz="1100" b="1" i="0">
                <a:solidFill>
                  <a:srgbClr val="EAF0F9"/>
                </a:solidFill>
                <a:latin typeface="Aptos"/>
              </a:rPr>
              <a:t>Parks Australia + NT Parks</a:t>
            </a:r>
          </a:p>
        </p:txBody>
      </p:sp>
      <p:sp>
        <p:nvSpPr>
          <p:cNvPr id="13" name="TextBox 12"/>
          <p:cNvSpPr txBox="1"/>
          <p:nvPr/>
        </p:nvSpPr>
        <p:spPr>
          <a:xfrm>
            <a:off x="3054096" y="2980944"/>
            <a:ext cx="1664208" cy="164592"/>
          </a:xfrm>
          <a:prstGeom prst="rect">
            <a:avLst/>
          </a:prstGeom>
          <a:noFill/>
        </p:spPr>
        <p:txBody>
          <a:bodyPr wrap="square" lIns="18288" rIns="18288" tIns="18288" bIns="18288" anchor="t">
            <a:spAutoFit/>
          </a:bodyPr>
          <a:lstStyle/>
          <a:p>
            <a:pPr algn="l"/>
            <a:r>
              <a:rPr sz="1000" b="0" i="0">
                <a:solidFill>
                  <a:srgbClr val="A8B1C2"/>
                </a:solidFill>
                <a:latin typeface="Aptos"/>
              </a:rPr>
              <a:t>park rules / closures</a:t>
            </a:r>
          </a:p>
        </p:txBody>
      </p:sp>
      <p:sp>
        <p:nvSpPr>
          <p:cNvPr id="14" name="Rounded Rectangle 13"/>
          <p:cNvSpPr/>
          <p:nvPr/>
        </p:nvSpPr>
        <p:spPr>
          <a:xfrm>
            <a:off x="749808" y="3438144"/>
            <a:ext cx="2148840" cy="36576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11296"/>
            <a:ext cx="1828800" cy="146304"/>
          </a:xfrm>
          <a:prstGeom prst="rect">
            <a:avLst/>
          </a:prstGeom>
          <a:noFill/>
        </p:spPr>
        <p:txBody>
          <a:bodyPr wrap="square" lIns="18288" rIns="18288" tIns="18288" bIns="18288" anchor="t">
            <a:spAutoFit/>
          </a:bodyPr>
          <a:lstStyle/>
          <a:p>
            <a:pPr algn="l"/>
            <a:r>
              <a:rPr sz="1100" b="1" i="0">
                <a:solidFill>
                  <a:srgbClr val="EAF0F9"/>
                </a:solidFill>
                <a:latin typeface="Aptos"/>
              </a:rPr>
              <a:t>NLC permits</a:t>
            </a:r>
          </a:p>
        </p:txBody>
      </p:sp>
      <p:sp>
        <p:nvSpPr>
          <p:cNvPr id="16" name="TextBox 15"/>
          <p:cNvSpPr txBox="1"/>
          <p:nvPr/>
        </p:nvSpPr>
        <p:spPr>
          <a:xfrm>
            <a:off x="3054096" y="3511296"/>
            <a:ext cx="1664208" cy="164592"/>
          </a:xfrm>
          <a:prstGeom prst="rect">
            <a:avLst/>
          </a:prstGeom>
          <a:noFill/>
        </p:spPr>
        <p:txBody>
          <a:bodyPr wrap="square" lIns="18288" rIns="18288" tIns="18288" bIns="18288" anchor="t">
            <a:spAutoFit/>
          </a:bodyPr>
          <a:lstStyle/>
          <a:p>
            <a:pPr algn="l"/>
            <a:r>
              <a:rPr sz="1000" b="0" i="0">
                <a:solidFill>
                  <a:srgbClr val="A8B1C2"/>
                </a:solidFill>
                <a:latin typeface="Aptos"/>
              </a:rPr>
              <a:t>authority / access</a:t>
            </a:r>
          </a:p>
        </p:txBody>
      </p:sp>
      <p:sp>
        <p:nvSpPr>
          <p:cNvPr id="17" name="Rounded Rectangle 16"/>
          <p:cNvSpPr/>
          <p:nvPr/>
        </p:nvSpPr>
        <p:spPr>
          <a:xfrm>
            <a:off x="749808" y="3968496"/>
            <a:ext cx="2148840" cy="36576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041648"/>
            <a:ext cx="1828800" cy="146304"/>
          </a:xfrm>
          <a:prstGeom prst="rect">
            <a:avLst/>
          </a:prstGeom>
          <a:noFill/>
        </p:spPr>
        <p:txBody>
          <a:bodyPr wrap="square" lIns="18288" rIns="18288" tIns="18288" bIns="18288" anchor="t">
            <a:spAutoFit/>
          </a:bodyPr>
          <a:lstStyle/>
          <a:p>
            <a:pPr algn="l"/>
            <a:r>
              <a:rPr sz="1100" b="1" i="0">
                <a:solidFill>
                  <a:srgbClr val="EAF0F9"/>
                </a:solidFill>
                <a:latin typeface="Aptos"/>
              </a:rPr>
              <a:t>BOM + operators</a:t>
            </a:r>
          </a:p>
        </p:txBody>
      </p:sp>
      <p:sp>
        <p:nvSpPr>
          <p:cNvPr id="19" name="TextBox 18"/>
          <p:cNvSpPr txBox="1"/>
          <p:nvPr/>
        </p:nvSpPr>
        <p:spPr>
          <a:xfrm>
            <a:off x="3054096" y="4041648"/>
            <a:ext cx="1664208" cy="164592"/>
          </a:xfrm>
          <a:prstGeom prst="rect">
            <a:avLst/>
          </a:prstGeom>
          <a:noFill/>
        </p:spPr>
        <p:txBody>
          <a:bodyPr wrap="square" lIns="18288" rIns="18288" tIns="18288" bIns="18288" anchor="t">
            <a:spAutoFit/>
          </a:bodyPr>
          <a:lstStyle/>
          <a:p>
            <a:pPr algn="l"/>
            <a:r>
              <a:rPr sz="1000" b="0" i="0">
                <a:solidFill>
                  <a:srgbClr val="A8B1C2"/>
                </a:solidFill>
                <a:latin typeface="Aptos"/>
              </a:rPr>
              <a:t>weather / local context</a:t>
            </a:r>
          </a:p>
        </p:txBody>
      </p:sp>
      <p:cxnSp>
        <p:nvCxnSpPr>
          <p:cNvPr id="20" name="Connector 19"/>
          <p:cNvCxnSpPr/>
          <p:nvPr/>
        </p:nvCxnSpPr>
        <p:spPr>
          <a:xfrm>
            <a:off x="4773168" y="3383280"/>
            <a:ext cx="457200"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285232" y="2331720"/>
            <a:ext cx="1600200" cy="2103120"/>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2578608"/>
            <a:ext cx="1097280" cy="182880"/>
          </a:xfrm>
          <a:prstGeom prst="rect">
            <a:avLst/>
          </a:prstGeom>
          <a:noFill/>
        </p:spPr>
        <p:txBody>
          <a:bodyPr wrap="square" lIns="18288" rIns="18288" tIns="18288" bIns="18288" anchor="t">
            <a:spAutoFit/>
          </a:bodyPr>
          <a:lstStyle/>
          <a:p>
            <a:pPr algn="ctr"/>
            <a:r>
              <a:rPr sz="1000" b="1" i="0">
                <a:solidFill>
                  <a:srgbClr val="58C4B2"/>
                </a:solidFill>
                <a:latin typeface="Aptos"/>
              </a:rPr>
              <a:t>CURATE</a:t>
            </a:r>
          </a:p>
        </p:txBody>
      </p:sp>
      <p:sp>
        <p:nvSpPr>
          <p:cNvPr id="23" name="TextBox 22"/>
          <p:cNvSpPr txBox="1"/>
          <p:nvPr/>
        </p:nvSpPr>
        <p:spPr>
          <a:xfrm>
            <a:off x="5504688" y="2980944"/>
            <a:ext cx="1170432" cy="960120"/>
          </a:xfrm>
          <a:prstGeom prst="rect">
            <a:avLst/>
          </a:prstGeom>
          <a:noFill/>
        </p:spPr>
        <p:txBody>
          <a:bodyPr wrap="square" lIns="18288" rIns="18288" tIns="18288" bIns="18288" anchor="t">
            <a:spAutoFit/>
          </a:bodyPr>
          <a:lstStyle/>
          <a:p>
            <a:pPr algn="ctr"/>
            <a:r>
              <a:rPr sz="1300" b="1" i="0">
                <a:solidFill>
                  <a:srgbClr val="F6F4EF"/>
                </a:solidFill>
                <a:latin typeface="Aptos"/>
              </a:rPr>
              <a:t>place records
source authority
URL + checked date
region + tags</a:t>
            </a:r>
          </a:p>
        </p:txBody>
      </p:sp>
      <p:cxnSp>
        <p:nvCxnSpPr>
          <p:cNvPr id="24" name="Connector 23"/>
          <p:cNvCxnSpPr/>
          <p:nvPr/>
        </p:nvCxnSpPr>
        <p:spPr>
          <a:xfrm>
            <a:off x="6967728" y="3383280"/>
            <a:ext cx="438912"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61504" y="2331720"/>
            <a:ext cx="1572768" cy="2103120"/>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99248" y="2578608"/>
            <a:ext cx="1097280" cy="182880"/>
          </a:xfrm>
          <a:prstGeom prst="rect">
            <a:avLst/>
          </a:prstGeom>
          <a:noFill/>
        </p:spPr>
        <p:txBody>
          <a:bodyPr wrap="square" lIns="18288" rIns="18288" tIns="18288" bIns="18288" anchor="t">
            <a:spAutoFit/>
          </a:bodyPr>
          <a:lstStyle/>
          <a:p>
            <a:pPr algn="ctr"/>
            <a:r>
              <a:rPr sz="1000" b="1" i="0">
                <a:solidFill>
                  <a:srgbClr val="6874F4"/>
                </a:solidFill>
                <a:latin typeface="Aptos"/>
              </a:rPr>
              <a:t>RETRIEVE</a:t>
            </a:r>
          </a:p>
        </p:txBody>
      </p:sp>
      <p:sp>
        <p:nvSpPr>
          <p:cNvPr id="27" name="TextBox 26"/>
          <p:cNvSpPr txBox="1"/>
          <p:nvPr/>
        </p:nvSpPr>
        <p:spPr>
          <a:xfrm>
            <a:off x="7653527" y="2980944"/>
            <a:ext cx="1170432" cy="960120"/>
          </a:xfrm>
          <a:prstGeom prst="rect">
            <a:avLst/>
          </a:prstGeom>
          <a:noFill/>
        </p:spPr>
        <p:txBody>
          <a:bodyPr wrap="square" lIns="18288" rIns="18288" tIns="18288" bIns="18288" anchor="t">
            <a:spAutoFit/>
          </a:bodyPr>
          <a:lstStyle/>
          <a:p>
            <a:pPr algn="ctr"/>
            <a:r>
              <a:rPr sz="1300" b="1" i="0">
                <a:solidFill>
                  <a:srgbClr val="F6F4EF"/>
                </a:solidFill>
                <a:latin typeface="Aptos"/>
              </a:rPr>
              <a:t>select records
by region
include context
in planner prompt</a:t>
            </a:r>
          </a:p>
        </p:txBody>
      </p:sp>
      <p:cxnSp>
        <p:nvCxnSpPr>
          <p:cNvPr id="28" name="Connector 27"/>
          <p:cNvCxnSpPr/>
          <p:nvPr/>
        </p:nvCxnSpPr>
        <p:spPr>
          <a:xfrm>
            <a:off x="9125712" y="3383280"/>
            <a:ext cx="438912" cy="0"/>
          </a:xfrm>
          <a:prstGeom prst="line">
            <a:avLst/>
          </a:prstGeom>
          <a:ln w="22860">
            <a:solidFill>
              <a:srgbClr val="F18F4E"/>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19488" y="2331720"/>
            <a:ext cx="1737360" cy="2103120"/>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2096" y="2578608"/>
            <a:ext cx="1143000" cy="182880"/>
          </a:xfrm>
          <a:prstGeom prst="rect">
            <a:avLst/>
          </a:prstGeom>
          <a:noFill/>
        </p:spPr>
        <p:txBody>
          <a:bodyPr wrap="square" lIns="18288" rIns="18288" tIns="18288" bIns="18288" anchor="t">
            <a:spAutoFit/>
          </a:bodyPr>
          <a:lstStyle/>
          <a:p>
            <a:pPr algn="ctr"/>
            <a:r>
              <a:rPr sz="1000" b="1" i="0">
                <a:solidFill>
                  <a:srgbClr val="F18F4E"/>
                </a:solidFill>
                <a:latin typeface="Aptos"/>
              </a:rPr>
              <a:t>EXPLAIN</a:t>
            </a:r>
          </a:p>
        </p:txBody>
      </p:sp>
      <p:sp>
        <p:nvSpPr>
          <p:cNvPr id="31" name="TextBox 30"/>
          <p:cNvSpPr txBox="1"/>
          <p:nvPr/>
        </p:nvSpPr>
        <p:spPr>
          <a:xfrm>
            <a:off x="9848088" y="2980944"/>
            <a:ext cx="1261872" cy="960120"/>
          </a:xfrm>
          <a:prstGeom prst="rect">
            <a:avLst/>
          </a:prstGeom>
          <a:noFill/>
        </p:spPr>
        <p:txBody>
          <a:bodyPr wrap="square" lIns="18288" rIns="18288" tIns="18288" bIns="18288" anchor="t">
            <a:spAutoFit/>
          </a:bodyPr>
          <a:lstStyle/>
          <a:p>
            <a:pPr algn="ctr"/>
            <a:r>
              <a:rPr sz="1300" b="1" i="0">
                <a:solidFill>
                  <a:srgbClr val="F6F4EF"/>
                </a:solidFill>
                <a:latin typeface="Aptos"/>
              </a:rPr>
              <a:t>Gemini structured
output → Flutter
screens → human
review</a:t>
            </a:r>
          </a:p>
        </p:txBody>
      </p:sp>
      <p:sp>
        <p:nvSpPr>
          <p:cNvPr id="32" name="TextBox 31"/>
          <p:cNvSpPr txBox="1"/>
          <p:nvPr/>
        </p:nvSpPr>
        <p:spPr>
          <a:xfrm>
            <a:off x="749808" y="4800600"/>
            <a:ext cx="2286000" cy="201168"/>
          </a:xfrm>
          <a:prstGeom prst="rect">
            <a:avLst/>
          </a:prstGeom>
          <a:noFill/>
        </p:spPr>
        <p:txBody>
          <a:bodyPr wrap="square" lIns="18288" rIns="18288" tIns="18288" bIns="18288" anchor="t">
            <a:spAutoFit/>
          </a:bodyPr>
          <a:lstStyle/>
          <a:p>
            <a:pPr algn="l"/>
            <a:r>
              <a:rPr sz="1000" b="1" i="0">
                <a:solidFill>
                  <a:srgbClr val="E16B6A"/>
                </a:solidFill>
                <a:latin typeface="Aptos"/>
              </a:rPr>
              <a:t>WHAT THE DATA DOES NOT DO</a:t>
            </a:r>
          </a:p>
        </p:txBody>
      </p:sp>
      <p:sp>
        <p:nvSpPr>
          <p:cNvPr id="33" name="TextBox 32"/>
          <p:cNvSpPr txBox="1"/>
          <p:nvPr/>
        </p:nvSpPr>
        <p:spPr>
          <a:xfrm>
            <a:off x="749808" y="5102352"/>
            <a:ext cx="5303520" cy="603504"/>
          </a:xfrm>
          <a:prstGeom prst="rect">
            <a:avLst/>
          </a:prstGeom>
          <a:noFill/>
        </p:spPr>
        <p:txBody>
          <a:bodyPr wrap="square" lIns="18288" rIns="18288" tIns="18288" bIns="18288" anchor="t">
            <a:spAutoFit/>
          </a:bodyPr>
          <a:lstStyle/>
          <a:p>
            <a:pPr algn="l"/>
            <a:r>
              <a:rPr sz="1200" b="0" i="0">
                <a:solidFill>
                  <a:srgbClr val="A8B1C2"/>
                </a:solidFill>
                <a:latin typeface="Aptos"/>
              </a:rPr>
              <a:t>The current records are curated context, not live road, closure, weather, fuel, permit or booking status. A checked date shows when a person reviewed the source, not a guarantee that conditions remain current.</a:t>
            </a:r>
          </a:p>
        </p:txBody>
      </p:sp>
      <p:sp>
        <p:nvSpPr>
          <p:cNvPr id="34" name="TextBox 33"/>
          <p:cNvSpPr txBox="1"/>
          <p:nvPr/>
        </p:nvSpPr>
        <p:spPr>
          <a:xfrm>
            <a:off x="6400800" y="4800600"/>
            <a:ext cx="1828800" cy="201168"/>
          </a:xfrm>
          <a:prstGeom prst="rect">
            <a:avLst/>
          </a:prstGeom>
          <a:noFill/>
        </p:spPr>
        <p:txBody>
          <a:bodyPr wrap="square" lIns="18288" rIns="18288" tIns="18288" bIns="18288" anchor="t">
            <a:spAutoFit/>
          </a:bodyPr>
          <a:lstStyle/>
          <a:p>
            <a:pPr algn="l"/>
            <a:r>
              <a:rPr sz="1000" b="1" i="0">
                <a:solidFill>
                  <a:srgbClr val="58C4B2"/>
                </a:solidFill>
                <a:latin typeface="Aptos"/>
              </a:rPr>
              <a:t>LECTURE COVERAGE</a:t>
            </a:r>
          </a:p>
        </p:txBody>
      </p:sp>
      <p:sp>
        <p:nvSpPr>
          <p:cNvPr id="35" name="TextBox 34"/>
          <p:cNvSpPr txBox="1"/>
          <p:nvPr/>
        </p:nvSpPr>
        <p:spPr>
          <a:xfrm>
            <a:off x="6400800" y="5102352"/>
            <a:ext cx="1828800" cy="155448"/>
          </a:xfrm>
          <a:prstGeom prst="rect">
            <a:avLst/>
          </a:prstGeom>
          <a:noFill/>
        </p:spPr>
        <p:txBody>
          <a:bodyPr wrap="square" lIns="18288" rIns="18288" tIns="18288" bIns="18288" anchor="t">
            <a:spAutoFit/>
          </a:bodyPr>
          <a:lstStyle/>
          <a:p>
            <a:pPr algn="l"/>
            <a:r>
              <a:rPr sz="950" b="1" i="0">
                <a:solidFill>
                  <a:srgbClr val="F18F4E"/>
                </a:solidFill>
                <a:latin typeface="Aptos"/>
              </a:rPr>
              <a:t>W01 + W06</a:t>
            </a:r>
          </a:p>
        </p:txBody>
      </p:sp>
      <p:sp>
        <p:nvSpPr>
          <p:cNvPr id="36" name="TextBox 35"/>
          <p:cNvSpPr txBox="1"/>
          <p:nvPr/>
        </p:nvSpPr>
        <p:spPr>
          <a:xfrm>
            <a:off x="8275320" y="5102352"/>
            <a:ext cx="2971800" cy="155448"/>
          </a:xfrm>
          <a:prstGeom prst="rect">
            <a:avLst/>
          </a:prstGeom>
          <a:noFill/>
        </p:spPr>
        <p:txBody>
          <a:bodyPr wrap="square" lIns="18288" rIns="18288" tIns="18288" bIns="18288" anchor="t">
            <a:spAutoFit/>
          </a:bodyPr>
          <a:lstStyle/>
          <a:p>
            <a:pPr algn="l"/>
            <a:r>
              <a:rPr sz="950" b="0" i="0">
                <a:solidFill>
                  <a:srgbClr val="EAF0F9"/>
                </a:solidFill>
                <a:latin typeface="Aptos"/>
              </a:rPr>
              <a:t>Stakeholders → requirements</a:t>
            </a:r>
          </a:p>
        </p:txBody>
      </p:sp>
      <p:sp>
        <p:nvSpPr>
          <p:cNvPr id="37" name="TextBox 36"/>
          <p:cNvSpPr txBox="1"/>
          <p:nvPr/>
        </p:nvSpPr>
        <p:spPr>
          <a:xfrm>
            <a:off x="6400800" y="5385816"/>
            <a:ext cx="1828800" cy="155448"/>
          </a:xfrm>
          <a:prstGeom prst="rect">
            <a:avLst/>
          </a:prstGeom>
          <a:noFill/>
        </p:spPr>
        <p:txBody>
          <a:bodyPr wrap="square" lIns="18288" rIns="18288" tIns="18288" bIns="18288" anchor="t">
            <a:spAutoFit/>
          </a:bodyPr>
          <a:lstStyle/>
          <a:p>
            <a:pPr algn="l"/>
            <a:r>
              <a:rPr sz="950" b="1" i="0">
                <a:solidFill>
                  <a:srgbClr val="F18F4E"/>
                </a:solidFill>
                <a:latin typeface="Aptos"/>
              </a:rPr>
              <a:t>W02 + W03</a:t>
            </a:r>
          </a:p>
        </p:txBody>
      </p:sp>
      <p:sp>
        <p:nvSpPr>
          <p:cNvPr id="38" name="TextBox 37"/>
          <p:cNvSpPr txBox="1"/>
          <p:nvPr/>
        </p:nvSpPr>
        <p:spPr>
          <a:xfrm>
            <a:off x="8275320" y="5385816"/>
            <a:ext cx="2971800" cy="155448"/>
          </a:xfrm>
          <a:prstGeom prst="rect">
            <a:avLst/>
          </a:prstGeom>
          <a:noFill/>
        </p:spPr>
        <p:txBody>
          <a:bodyPr wrap="square" lIns="18288" rIns="18288" tIns="18288" bIns="18288" anchor="t">
            <a:spAutoFit/>
          </a:bodyPr>
          <a:lstStyle/>
          <a:p>
            <a:pPr algn="l"/>
            <a:r>
              <a:rPr sz="950" b="0" i="0">
                <a:solidFill>
                  <a:srgbClr val="EAF0F9"/>
                </a:solidFill>
                <a:latin typeface="Aptos"/>
              </a:rPr>
              <a:t>Data context + human-centred design</a:t>
            </a:r>
          </a:p>
        </p:txBody>
      </p:sp>
      <p:sp>
        <p:nvSpPr>
          <p:cNvPr id="39" name="TextBox 38"/>
          <p:cNvSpPr txBox="1"/>
          <p:nvPr/>
        </p:nvSpPr>
        <p:spPr>
          <a:xfrm>
            <a:off x="6400800" y="5669280"/>
            <a:ext cx="1828800" cy="155448"/>
          </a:xfrm>
          <a:prstGeom prst="rect">
            <a:avLst/>
          </a:prstGeom>
          <a:noFill/>
        </p:spPr>
        <p:txBody>
          <a:bodyPr wrap="square" lIns="18288" rIns="18288" tIns="18288" bIns="18288" anchor="t">
            <a:spAutoFit/>
          </a:bodyPr>
          <a:lstStyle/>
          <a:p>
            <a:pPr algn="l"/>
            <a:r>
              <a:rPr sz="950" b="1" i="0">
                <a:solidFill>
                  <a:srgbClr val="F18F4E"/>
                </a:solidFill>
                <a:latin typeface="Aptos"/>
              </a:rPr>
              <a:t>W04 + W05 + W09 + W12</a:t>
            </a:r>
          </a:p>
        </p:txBody>
      </p:sp>
      <p:sp>
        <p:nvSpPr>
          <p:cNvPr id="40" name="TextBox 39"/>
          <p:cNvSpPr txBox="1"/>
          <p:nvPr/>
        </p:nvSpPr>
        <p:spPr>
          <a:xfrm>
            <a:off x="8275320" y="5669280"/>
            <a:ext cx="2971800" cy="155448"/>
          </a:xfrm>
          <a:prstGeom prst="rect">
            <a:avLst/>
          </a:prstGeom>
          <a:noFill/>
        </p:spPr>
        <p:txBody>
          <a:bodyPr wrap="square" lIns="18288" rIns="18288" tIns="18288" bIns="18288" anchor="t">
            <a:spAutoFit/>
          </a:bodyPr>
          <a:lstStyle/>
          <a:p>
            <a:pPr algn="l"/>
            <a:r>
              <a:rPr sz="950" b="0" i="0">
                <a:solidFill>
                  <a:srgbClr val="EAF0F9"/>
                </a:solidFill>
                <a:latin typeface="Aptos"/>
              </a:rPr>
              <a:t>Responsible AI, readiness, privacy and traceability</a:t>
            </a:r>
          </a:p>
        </p:txBody>
      </p:sp>
      <p:sp>
        <p:nvSpPr>
          <p:cNvPr id="41" name="TextBox 40"/>
          <p:cNvSpPr txBox="1"/>
          <p:nvPr/>
        </p:nvSpPr>
        <p:spPr>
          <a:xfrm>
            <a:off x="6400800" y="5952744"/>
            <a:ext cx="1828800" cy="155448"/>
          </a:xfrm>
          <a:prstGeom prst="rect">
            <a:avLst/>
          </a:prstGeom>
          <a:noFill/>
        </p:spPr>
        <p:txBody>
          <a:bodyPr wrap="square" lIns="18288" rIns="18288" tIns="18288" bIns="18288" anchor="t">
            <a:spAutoFit/>
          </a:bodyPr>
          <a:lstStyle/>
          <a:p>
            <a:pPr algn="l"/>
            <a:r>
              <a:rPr sz="950" b="1" i="0">
                <a:solidFill>
                  <a:srgbClr val="F18F4E"/>
                </a:solidFill>
                <a:latin typeface="Aptos"/>
              </a:rPr>
              <a:t>W07 + W08 + W10 + W11</a:t>
            </a:r>
          </a:p>
        </p:txBody>
      </p:sp>
      <p:sp>
        <p:nvSpPr>
          <p:cNvPr id="42" name="TextBox 41"/>
          <p:cNvSpPr txBox="1"/>
          <p:nvPr/>
        </p:nvSpPr>
        <p:spPr>
          <a:xfrm>
            <a:off x="8275320" y="5952744"/>
            <a:ext cx="2971800" cy="155448"/>
          </a:xfrm>
          <a:prstGeom prst="rect">
            <a:avLst/>
          </a:prstGeom>
          <a:noFill/>
        </p:spPr>
        <p:txBody>
          <a:bodyPr wrap="square" lIns="18288" rIns="18288" tIns="18288" bIns="18288" anchor="t">
            <a:spAutoFit/>
          </a:bodyPr>
          <a:lstStyle/>
          <a:p>
            <a:pPr algn="l"/>
            <a:r>
              <a:rPr sz="950" b="0" i="0">
                <a:solidFill>
                  <a:srgbClr val="EAF0F9"/>
                </a:solidFill>
                <a:latin typeface="Aptos"/>
              </a:rPr>
              <a:t>Evaluation, iteration, refinement and presentation</a:t>
            </a:r>
          </a:p>
        </p:txBody>
      </p:sp>
      <p:cxnSp>
        <p:nvCxnSpPr>
          <p:cNvPr id="43" name="Connector 42"/>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DATA LINEAGE + COURSE COVERAGE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05 · DATA SOURCES</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Terra NT combines evidence owned by different organisations</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Each source contributes a different kind of route context. The planner keeps the source name and checked date with the record.</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06</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2057400"/>
            <a:ext cx="2057400" cy="201168"/>
          </a:xfrm>
          <a:prstGeom prst="rect">
            <a:avLst/>
          </a:prstGeom>
          <a:noFill/>
        </p:spPr>
        <p:txBody>
          <a:bodyPr wrap="square" lIns="18288" rIns="18288" tIns="18288" bIns="18288" anchor="t">
            <a:spAutoFit/>
          </a:bodyPr>
          <a:lstStyle/>
          <a:p>
            <a:pPr algn="l"/>
            <a:r>
              <a:rPr sz="1000" b="1" i="0">
                <a:solidFill>
                  <a:srgbClr val="F18F4E"/>
                </a:solidFill>
                <a:latin typeface="Aptos"/>
              </a:rPr>
              <a:t>SOURCE</a:t>
            </a:r>
          </a:p>
        </p:txBody>
      </p:sp>
      <p:sp>
        <p:nvSpPr>
          <p:cNvPr id="8" name="TextBox 7"/>
          <p:cNvSpPr txBox="1"/>
          <p:nvPr/>
        </p:nvSpPr>
        <p:spPr>
          <a:xfrm>
            <a:off x="2999232" y="2057400"/>
            <a:ext cx="2240280" cy="201168"/>
          </a:xfrm>
          <a:prstGeom prst="rect">
            <a:avLst/>
          </a:prstGeom>
          <a:noFill/>
        </p:spPr>
        <p:txBody>
          <a:bodyPr wrap="square" lIns="18288" rIns="18288" tIns="18288" bIns="18288" anchor="t">
            <a:spAutoFit/>
          </a:bodyPr>
          <a:lstStyle/>
          <a:p>
            <a:pPr algn="l"/>
            <a:r>
              <a:rPr sz="1000" b="1" i="0">
                <a:solidFill>
                  <a:srgbClr val="58C4B2"/>
                </a:solidFill>
                <a:latin typeface="Aptos"/>
              </a:rPr>
              <a:t>WHAT IT CONTRIBUTES</a:t>
            </a:r>
          </a:p>
        </p:txBody>
      </p:sp>
      <p:sp>
        <p:nvSpPr>
          <p:cNvPr id="9" name="TextBox 8"/>
          <p:cNvSpPr txBox="1"/>
          <p:nvPr/>
        </p:nvSpPr>
        <p:spPr>
          <a:xfrm>
            <a:off x="5522976" y="2057400"/>
            <a:ext cx="5440680" cy="201168"/>
          </a:xfrm>
          <a:prstGeom prst="rect">
            <a:avLst/>
          </a:prstGeom>
          <a:noFill/>
        </p:spPr>
        <p:txBody>
          <a:bodyPr wrap="square" lIns="18288" rIns="18288" tIns="18288" bIns="18288" anchor="t">
            <a:spAutoFit/>
          </a:bodyPr>
          <a:lstStyle/>
          <a:p>
            <a:pPr algn="l"/>
            <a:r>
              <a:rPr sz="1000" b="1" i="0">
                <a:solidFill>
                  <a:srgbClr val="6874F4"/>
                </a:solidFill>
                <a:latin typeface="Aptos"/>
              </a:rPr>
              <a:t>HOW WE TREAT IT</a:t>
            </a:r>
          </a:p>
        </p:txBody>
      </p:sp>
      <p:cxnSp>
        <p:nvCxnSpPr>
          <p:cNvPr id="10" name="Connector 9"/>
          <p:cNvCxnSpPr/>
          <p:nvPr/>
        </p:nvCxnSpPr>
        <p:spPr>
          <a:xfrm>
            <a:off x="749808" y="2916936"/>
            <a:ext cx="10661904"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2395728"/>
            <a:ext cx="2057400" cy="338328"/>
          </a:xfrm>
          <a:prstGeom prst="rect">
            <a:avLst/>
          </a:prstGeom>
          <a:noFill/>
        </p:spPr>
        <p:txBody>
          <a:bodyPr wrap="square" lIns="18288" rIns="18288" tIns="18288" bIns="18288" anchor="t">
            <a:spAutoFit/>
          </a:bodyPr>
          <a:lstStyle/>
          <a:p>
            <a:pPr algn="l"/>
            <a:r>
              <a:rPr sz="1400" b="1" i="0">
                <a:solidFill>
                  <a:srgbClr val="F6F4EF"/>
                </a:solidFill>
                <a:latin typeface="Aptos"/>
              </a:rPr>
              <a:t>NT Road Report</a:t>
            </a:r>
          </a:p>
        </p:txBody>
      </p:sp>
      <p:sp>
        <p:nvSpPr>
          <p:cNvPr id="12" name="TextBox 11"/>
          <p:cNvSpPr txBox="1"/>
          <p:nvPr/>
        </p:nvSpPr>
        <p:spPr>
          <a:xfrm>
            <a:off x="2999232" y="2395728"/>
            <a:ext cx="2240280" cy="347472"/>
          </a:xfrm>
          <a:prstGeom prst="rect">
            <a:avLst/>
          </a:prstGeom>
          <a:noFill/>
        </p:spPr>
        <p:txBody>
          <a:bodyPr wrap="square" lIns="18288" rIns="18288" tIns="18288" bIns="18288" anchor="t">
            <a:spAutoFit/>
          </a:bodyPr>
          <a:lstStyle/>
          <a:p>
            <a:pPr algn="l"/>
            <a:r>
              <a:rPr sz="1250" b="0" i="0">
                <a:solidFill>
                  <a:srgbClr val="EAF0F9"/>
                </a:solidFill>
                <a:latin typeface="Aptos"/>
              </a:rPr>
              <a:t>Road and access context</a:t>
            </a:r>
          </a:p>
        </p:txBody>
      </p:sp>
      <p:sp>
        <p:nvSpPr>
          <p:cNvPr id="13" name="TextBox 12"/>
          <p:cNvSpPr txBox="1"/>
          <p:nvPr/>
        </p:nvSpPr>
        <p:spPr>
          <a:xfrm>
            <a:off x="5522976" y="2395728"/>
            <a:ext cx="5486400" cy="402336"/>
          </a:xfrm>
          <a:prstGeom prst="rect">
            <a:avLst/>
          </a:prstGeom>
          <a:noFill/>
        </p:spPr>
        <p:txBody>
          <a:bodyPr wrap="square" lIns="18288" rIns="18288" tIns="18288" bIns="18288" anchor="t">
            <a:spAutoFit/>
          </a:bodyPr>
          <a:lstStyle/>
          <a:p>
            <a:pPr algn="l"/>
            <a:r>
              <a:rPr sz="1150" b="0" i="0">
                <a:solidFill>
                  <a:srgbClr val="A8B1C2"/>
                </a:solidFill>
                <a:latin typeface="Aptos"/>
              </a:rPr>
              <a:t>Advisory evidence. Confirm current closures and conditions with the official source.</a:t>
            </a:r>
          </a:p>
        </p:txBody>
      </p:sp>
      <p:cxnSp>
        <p:nvCxnSpPr>
          <p:cNvPr id="14" name="Connector 13"/>
          <p:cNvCxnSpPr/>
          <p:nvPr/>
        </p:nvCxnSpPr>
        <p:spPr>
          <a:xfrm>
            <a:off x="749808" y="3611879"/>
            <a:ext cx="10661904"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49808" y="3090672"/>
            <a:ext cx="2057400" cy="338328"/>
          </a:xfrm>
          <a:prstGeom prst="rect">
            <a:avLst/>
          </a:prstGeom>
          <a:noFill/>
        </p:spPr>
        <p:txBody>
          <a:bodyPr wrap="square" lIns="18288" rIns="18288" tIns="18288" bIns="18288" anchor="t">
            <a:spAutoFit/>
          </a:bodyPr>
          <a:lstStyle/>
          <a:p>
            <a:pPr algn="l"/>
            <a:r>
              <a:rPr sz="1400" b="1" i="0">
                <a:solidFill>
                  <a:srgbClr val="F6F4EF"/>
                </a:solidFill>
                <a:latin typeface="Aptos"/>
              </a:rPr>
              <a:t>Parks Australia + NT Parks</a:t>
            </a:r>
          </a:p>
        </p:txBody>
      </p:sp>
      <p:sp>
        <p:nvSpPr>
          <p:cNvPr id="16" name="TextBox 15"/>
          <p:cNvSpPr txBox="1"/>
          <p:nvPr/>
        </p:nvSpPr>
        <p:spPr>
          <a:xfrm>
            <a:off x="2999232" y="3090672"/>
            <a:ext cx="2240280" cy="347472"/>
          </a:xfrm>
          <a:prstGeom prst="rect">
            <a:avLst/>
          </a:prstGeom>
          <a:noFill/>
        </p:spPr>
        <p:txBody>
          <a:bodyPr wrap="square" lIns="18288" rIns="18288" tIns="18288" bIns="18288" anchor="t">
            <a:spAutoFit/>
          </a:bodyPr>
          <a:lstStyle/>
          <a:p>
            <a:pPr algn="l"/>
            <a:r>
              <a:rPr sz="1250" b="0" i="0">
                <a:solidFill>
                  <a:srgbClr val="EAF0F9"/>
                </a:solidFill>
                <a:latin typeface="Aptos"/>
              </a:rPr>
              <a:t>Park rules, closures and visitor context</a:t>
            </a:r>
          </a:p>
        </p:txBody>
      </p:sp>
      <p:sp>
        <p:nvSpPr>
          <p:cNvPr id="17" name="TextBox 16"/>
          <p:cNvSpPr txBox="1"/>
          <p:nvPr/>
        </p:nvSpPr>
        <p:spPr>
          <a:xfrm>
            <a:off x="5522976" y="3090672"/>
            <a:ext cx="5486400" cy="402336"/>
          </a:xfrm>
          <a:prstGeom prst="rect">
            <a:avLst/>
          </a:prstGeom>
          <a:noFill/>
        </p:spPr>
        <p:txBody>
          <a:bodyPr wrap="square" lIns="18288" rIns="18288" tIns="18288" bIns="18288" anchor="t">
            <a:spAutoFit/>
          </a:bodyPr>
          <a:lstStyle/>
          <a:p>
            <a:pPr algn="l"/>
            <a:r>
              <a:rPr sz="1150" b="0" i="0">
                <a:solidFill>
                  <a:srgbClr val="A8B1C2"/>
                </a:solidFill>
                <a:latin typeface="Aptos"/>
              </a:rPr>
              <a:t>Authority context. Do not infer that a site is open or accessible today.</a:t>
            </a:r>
          </a:p>
        </p:txBody>
      </p:sp>
      <p:cxnSp>
        <p:nvCxnSpPr>
          <p:cNvPr id="18" name="Connector 17"/>
          <p:cNvCxnSpPr/>
          <p:nvPr/>
        </p:nvCxnSpPr>
        <p:spPr>
          <a:xfrm>
            <a:off x="749808" y="4306824"/>
            <a:ext cx="10661904"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3785616"/>
            <a:ext cx="2057400" cy="338328"/>
          </a:xfrm>
          <a:prstGeom prst="rect">
            <a:avLst/>
          </a:prstGeom>
          <a:noFill/>
        </p:spPr>
        <p:txBody>
          <a:bodyPr wrap="square" lIns="18288" rIns="18288" tIns="18288" bIns="18288" anchor="t">
            <a:spAutoFit/>
          </a:bodyPr>
          <a:lstStyle/>
          <a:p>
            <a:pPr algn="l"/>
            <a:r>
              <a:rPr sz="1400" b="1" i="0">
                <a:solidFill>
                  <a:srgbClr val="F6F4EF"/>
                </a:solidFill>
                <a:latin typeface="Aptos"/>
              </a:rPr>
              <a:t>Northern Land Council</a:t>
            </a:r>
          </a:p>
        </p:txBody>
      </p:sp>
      <p:sp>
        <p:nvSpPr>
          <p:cNvPr id="20" name="TextBox 19"/>
          <p:cNvSpPr txBox="1"/>
          <p:nvPr/>
        </p:nvSpPr>
        <p:spPr>
          <a:xfrm>
            <a:off x="2999232" y="3785616"/>
            <a:ext cx="2240280" cy="347472"/>
          </a:xfrm>
          <a:prstGeom prst="rect">
            <a:avLst/>
          </a:prstGeom>
          <a:noFill/>
        </p:spPr>
        <p:txBody>
          <a:bodyPr wrap="square" lIns="18288" rIns="18288" tIns="18288" bIns="18288" anchor="t">
            <a:spAutoFit/>
          </a:bodyPr>
          <a:lstStyle/>
          <a:p>
            <a:pPr algn="l"/>
            <a:r>
              <a:rPr sz="1250" b="0" i="0">
                <a:solidFill>
                  <a:srgbClr val="EAF0F9"/>
                </a:solidFill>
                <a:latin typeface="Aptos"/>
              </a:rPr>
              <a:t>Permit and access authority context</a:t>
            </a:r>
          </a:p>
        </p:txBody>
      </p:sp>
      <p:sp>
        <p:nvSpPr>
          <p:cNvPr id="21" name="TextBox 20"/>
          <p:cNvSpPr txBox="1"/>
          <p:nvPr/>
        </p:nvSpPr>
        <p:spPr>
          <a:xfrm>
            <a:off x="5522976" y="3785616"/>
            <a:ext cx="5486400" cy="402336"/>
          </a:xfrm>
          <a:prstGeom prst="rect">
            <a:avLst/>
          </a:prstGeom>
          <a:noFill/>
        </p:spPr>
        <p:txBody>
          <a:bodyPr wrap="square" lIns="18288" rIns="18288" tIns="18288" bIns="18288" anchor="t">
            <a:spAutoFit/>
          </a:bodyPr>
          <a:lstStyle/>
          <a:p>
            <a:pPr algn="l"/>
            <a:r>
              <a:rPr sz="1150" b="0" i="0">
                <a:solidFill>
                  <a:srgbClr val="A8B1C2"/>
                </a:solidFill>
                <a:latin typeface="Aptos"/>
              </a:rPr>
              <a:t>Permission boundary. The app must not invent cultural access approval.</a:t>
            </a:r>
          </a:p>
        </p:txBody>
      </p:sp>
      <p:cxnSp>
        <p:nvCxnSpPr>
          <p:cNvPr id="22" name="Connector 21"/>
          <p:cNvCxnSpPr/>
          <p:nvPr/>
        </p:nvCxnSpPr>
        <p:spPr>
          <a:xfrm>
            <a:off x="749808" y="5001768"/>
            <a:ext cx="10661904"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9808" y="4480560"/>
            <a:ext cx="2057400" cy="338328"/>
          </a:xfrm>
          <a:prstGeom prst="rect">
            <a:avLst/>
          </a:prstGeom>
          <a:noFill/>
        </p:spPr>
        <p:txBody>
          <a:bodyPr wrap="square" lIns="18288" rIns="18288" tIns="18288" bIns="18288" anchor="t">
            <a:spAutoFit/>
          </a:bodyPr>
          <a:lstStyle/>
          <a:p>
            <a:pPr algn="l"/>
            <a:r>
              <a:rPr sz="1400" b="1" i="0">
                <a:solidFill>
                  <a:srgbClr val="F6F4EF"/>
                </a:solidFill>
                <a:latin typeface="Aptos"/>
              </a:rPr>
              <a:t>BOM + local operators</a:t>
            </a:r>
          </a:p>
        </p:txBody>
      </p:sp>
      <p:sp>
        <p:nvSpPr>
          <p:cNvPr id="24" name="TextBox 23"/>
          <p:cNvSpPr txBox="1"/>
          <p:nvPr/>
        </p:nvSpPr>
        <p:spPr>
          <a:xfrm>
            <a:off x="2999232" y="4480560"/>
            <a:ext cx="2240280" cy="347472"/>
          </a:xfrm>
          <a:prstGeom prst="rect">
            <a:avLst/>
          </a:prstGeom>
          <a:noFill/>
        </p:spPr>
        <p:txBody>
          <a:bodyPr wrap="square" lIns="18288" rIns="18288" tIns="18288" bIns="18288" anchor="t">
            <a:spAutoFit/>
          </a:bodyPr>
          <a:lstStyle/>
          <a:p>
            <a:pPr algn="l"/>
            <a:r>
              <a:rPr sz="1250" b="0" i="0">
                <a:solidFill>
                  <a:srgbClr val="EAF0F9"/>
                </a:solidFill>
                <a:latin typeface="Aptos"/>
              </a:rPr>
              <a:t>Weather and local travel context</a:t>
            </a:r>
          </a:p>
        </p:txBody>
      </p:sp>
      <p:sp>
        <p:nvSpPr>
          <p:cNvPr id="25" name="TextBox 24"/>
          <p:cNvSpPr txBox="1"/>
          <p:nvPr/>
        </p:nvSpPr>
        <p:spPr>
          <a:xfrm>
            <a:off x="5522976" y="4480560"/>
            <a:ext cx="5486400" cy="402336"/>
          </a:xfrm>
          <a:prstGeom prst="rect">
            <a:avLst/>
          </a:prstGeom>
          <a:noFill/>
        </p:spPr>
        <p:txBody>
          <a:bodyPr wrap="square" lIns="18288" rIns="18288" tIns="18288" bIns="18288" anchor="t">
            <a:spAutoFit/>
          </a:bodyPr>
          <a:lstStyle/>
          <a:p>
            <a:pPr algn="l"/>
            <a:r>
              <a:rPr sz="1150" b="0" i="0">
                <a:solidFill>
                  <a:srgbClr val="A8B1C2"/>
                </a:solidFill>
                <a:latin typeface="Aptos"/>
              </a:rPr>
              <a:t>Supporting context. Keep the source and review date visible.</a:t>
            </a:r>
          </a:p>
        </p:txBody>
      </p:sp>
      <p:sp>
        <p:nvSpPr>
          <p:cNvPr id="26" name="Rounded Rectangle 25"/>
          <p:cNvSpPr/>
          <p:nvPr/>
        </p:nvSpPr>
        <p:spPr>
          <a:xfrm>
            <a:off x="749808" y="5413248"/>
            <a:ext cx="10661904" cy="566928"/>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 y="5577840"/>
            <a:ext cx="1600200" cy="164592"/>
          </a:xfrm>
          <a:prstGeom prst="rect">
            <a:avLst/>
          </a:prstGeom>
          <a:noFill/>
        </p:spPr>
        <p:txBody>
          <a:bodyPr wrap="square" lIns="18288" rIns="18288" tIns="18288" bIns="18288" anchor="t">
            <a:spAutoFit/>
          </a:bodyPr>
          <a:lstStyle/>
          <a:p>
            <a:pPr algn="l"/>
            <a:r>
              <a:rPr sz="1000" b="1" i="0">
                <a:solidFill>
                  <a:srgbClr val="58C4B2"/>
                </a:solidFill>
                <a:latin typeface="Aptos"/>
              </a:rPr>
              <a:t>Every place record keeps</a:t>
            </a:r>
          </a:p>
        </p:txBody>
      </p:sp>
      <p:sp>
        <p:nvSpPr>
          <p:cNvPr id="28" name="TextBox 27"/>
          <p:cNvSpPr txBox="1"/>
          <p:nvPr/>
        </p:nvSpPr>
        <p:spPr>
          <a:xfrm>
            <a:off x="2743200" y="5577840"/>
            <a:ext cx="4892040" cy="164592"/>
          </a:xfrm>
          <a:prstGeom prst="rect">
            <a:avLst/>
          </a:prstGeom>
          <a:noFill/>
        </p:spPr>
        <p:txBody>
          <a:bodyPr wrap="square" lIns="18288" rIns="18288" tIns="18288" bIns="18288" anchor="t">
            <a:spAutoFit/>
          </a:bodyPr>
          <a:lstStyle/>
          <a:p>
            <a:pPr algn="l"/>
            <a:r>
              <a:rPr sz="1200" b="1" i="0">
                <a:solidFill>
                  <a:srgbClr val="F6F4EF"/>
                </a:solidFill>
                <a:latin typeface="Aptos"/>
              </a:rPr>
              <a:t>authority · URL · checked date · region · tags · evidence text</a:t>
            </a:r>
          </a:p>
        </p:txBody>
      </p:sp>
      <p:sp>
        <p:nvSpPr>
          <p:cNvPr id="29" name="TextBox 28"/>
          <p:cNvSpPr txBox="1"/>
          <p:nvPr/>
        </p:nvSpPr>
        <p:spPr>
          <a:xfrm>
            <a:off x="7882127" y="5577840"/>
            <a:ext cx="3154680" cy="164592"/>
          </a:xfrm>
          <a:prstGeom prst="rect">
            <a:avLst/>
          </a:prstGeom>
          <a:noFill/>
        </p:spPr>
        <p:txBody>
          <a:bodyPr wrap="square" lIns="18288" rIns="18288" tIns="18288" bIns="18288" anchor="t">
            <a:spAutoFit/>
          </a:bodyPr>
          <a:lstStyle/>
          <a:p>
            <a:pPr algn="l"/>
            <a:r>
              <a:rPr sz="1100" b="0" i="0">
                <a:solidFill>
                  <a:srgbClr val="A8B1C2"/>
                </a:solidFill>
                <a:latin typeface="Aptos"/>
              </a:rPr>
              <a:t>This makes the origin of an answer inspectable.</a:t>
            </a:r>
          </a:p>
        </p:txBody>
      </p:sp>
      <p:cxnSp>
        <p:nvCxnSpPr>
          <p:cNvPr id="30" name="Connector 29"/>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SOURCE AUTHORITY + FRESHNESS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06 · DATA PROCESSING</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Source material becomes route-ready evidence through a controlled preparation step</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The system does not send an unstructured web search directly to the model.</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07</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9808" y="2395728"/>
            <a:ext cx="1783080" cy="15727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560320"/>
            <a:ext cx="274320" cy="228600"/>
          </a:xfrm>
          <a:prstGeom prst="rect">
            <a:avLst/>
          </a:prstGeom>
          <a:noFill/>
        </p:spPr>
        <p:txBody>
          <a:bodyPr wrap="square" lIns="18288" rIns="18288" tIns="18288" bIns="18288" anchor="t">
            <a:spAutoFit/>
          </a:bodyPr>
          <a:lstStyle/>
          <a:p>
            <a:pPr algn="l"/>
            <a:r>
              <a:rPr sz="1800" b="1" i="0">
                <a:solidFill>
                  <a:srgbClr val="F18F4E"/>
                </a:solidFill>
                <a:latin typeface="Aptos"/>
              </a:rPr>
              <a:t>1</a:t>
            </a:r>
          </a:p>
        </p:txBody>
      </p:sp>
      <p:sp>
        <p:nvSpPr>
          <p:cNvPr id="9" name="TextBox 8"/>
          <p:cNvSpPr txBox="1"/>
          <p:nvPr/>
        </p:nvSpPr>
        <p:spPr>
          <a:xfrm>
            <a:off x="1225295" y="2578608"/>
            <a:ext cx="1097280" cy="182880"/>
          </a:xfrm>
          <a:prstGeom prst="rect">
            <a:avLst/>
          </a:prstGeom>
          <a:noFill/>
        </p:spPr>
        <p:txBody>
          <a:bodyPr wrap="square" lIns="18288" rIns="18288" tIns="18288" bIns="18288" anchor="t">
            <a:spAutoFit/>
          </a:bodyPr>
          <a:lstStyle/>
          <a:p>
            <a:pPr algn="l"/>
            <a:r>
              <a:rPr sz="1000" b="1" i="0">
                <a:solidFill>
                  <a:srgbClr val="6874F4"/>
                </a:solidFill>
                <a:latin typeface="Aptos"/>
              </a:rPr>
              <a:t>COLLECT</a:t>
            </a:r>
          </a:p>
        </p:txBody>
      </p:sp>
      <p:sp>
        <p:nvSpPr>
          <p:cNvPr id="10" name="TextBox 9"/>
          <p:cNvSpPr txBox="1"/>
          <p:nvPr/>
        </p:nvSpPr>
        <p:spPr>
          <a:xfrm>
            <a:off x="896112" y="3017520"/>
            <a:ext cx="1463040" cy="502920"/>
          </a:xfrm>
          <a:prstGeom prst="rect">
            <a:avLst/>
          </a:prstGeom>
          <a:noFill/>
        </p:spPr>
        <p:txBody>
          <a:bodyPr wrap="square" lIns="18288" rIns="18288" tIns="18288" bIns="18288" anchor="t">
            <a:spAutoFit/>
          </a:bodyPr>
          <a:lstStyle/>
          <a:p>
            <a:pPr algn="ctr"/>
            <a:r>
              <a:rPr sz="1400" b="1" i="0">
                <a:solidFill>
                  <a:srgbClr val="F6F4EF"/>
                </a:solidFill>
                <a:latin typeface="Aptos"/>
              </a:rPr>
              <a:t>official pages
operator context</a:t>
            </a:r>
          </a:p>
        </p:txBody>
      </p:sp>
      <p:sp>
        <p:nvSpPr>
          <p:cNvPr id="11" name="TextBox 10"/>
          <p:cNvSpPr txBox="1"/>
          <p:nvPr/>
        </p:nvSpPr>
        <p:spPr>
          <a:xfrm>
            <a:off x="2606039" y="2962656"/>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2" name="Rounded Rectangle 11"/>
          <p:cNvSpPr/>
          <p:nvPr/>
        </p:nvSpPr>
        <p:spPr>
          <a:xfrm>
            <a:off x="2962656" y="2395728"/>
            <a:ext cx="1783080" cy="15727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90672" y="2560320"/>
            <a:ext cx="274320" cy="228600"/>
          </a:xfrm>
          <a:prstGeom prst="rect">
            <a:avLst/>
          </a:prstGeom>
          <a:noFill/>
        </p:spPr>
        <p:txBody>
          <a:bodyPr wrap="square" lIns="18288" rIns="18288" tIns="18288" bIns="18288" anchor="t">
            <a:spAutoFit/>
          </a:bodyPr>
          <a:lstStyle/>
          <a:p>
            <a:pPr algn="l"/>
            <a:r>
              <a:rPr sz="1800" b="1" i="0">
                <a:solidFill>
                  <a:srgbClr val="F18F4E"/>
                </a:solidFill>
                <a:latin typeface="Aptos"/>
              </a:rPr>
              <a:t>2</a:t>
            </a:r>
          </a:p>
        </p:txBody>
      </p:sp>
      <p:sp>
        <p:nvSpPr>
          <p:cNvPr id="14" name="TextBox 13"/>
          <p:cNvSpPr txBox="1"/>
          <p:nvPr/>
        </p:nvSpPr>
        <p:spPr>
          <a:xfrm>
            <a:off x="3438144" y="2578608"/>
            <a:ext cx="1097280" cy="182880"/>
          </a:xfrm>
          <a:prstGeom prst="rect">
            <a:avLst/>
          </a:prstGeom>
          <a:noFill/>
        </p:spPr>
        <p:txBody>
          <a:bodyPr wrap="square" lIns="18288" rIns="18288" tIns="18288" bIns="18288" anchor="t">
            <a:spAutoFit/>
          </a:bodyPr>
          <a:lstStyle/>
          <a:p>
            <a:pPr algn="l"/>
            <a:r>
              <a:rPr sz="1000" b="1" i="0">
                <a:solidFill>
                  <a:srgbClr val="6874F4"/>
                </a:solidFill>
                <a:latin typeface="Aptos"/>
              </a:rPr>
              <a:t>NORMALISE</a:t>
            </a:r>
          </a:p>
        </p:txBody>
      </p:sp>
      <p:sp>
        <p:nvSpPr>
          <p:cNvPr id="15" name="TextBox 14"/>
          <p:cNvSpPr txBox="1"/>
          <p:nvPr/>
        </p:nvSpPr>
        <p:spPr>
          <a:xfrm>
            <a:off x="3108960" y="3017520"/>
            <a:ext cx="1463040" cy="502920"/>
          </a:xfrm>
          <a:prstGeom prst="rect">
            <a:avLst/>
          </a:prstGeom>
          <a:noFill/>
        </p:spPr>
        <p:txBody>
          <a:bodyPr wrap="square" lIns="18288" rIns="18288" tIns="18288" bIns="18288" anchor="t">
            <a:spAutoFit/>
          </a:bodyPr>
          <a:lstStyle/>
          <a:p>
            <a:pPr algn="ctr"/>
            <a:r>
              <a:rPr sz="1400" b="1" i="0">
                <a:solidFill>
                  <a:srgbClr val="F6F4EF"/>
                </a:solidFill>
                <a:latin typeface="Aptos"/>
              </a:rPr>
              <a:t>place name
region + tags</a:t>
            </a:r>
          </a:p>
        </p:txBody>
      </p:sp>
      <p:sp>
        <p:nvSpPr>
          <p:cNvPr id="16" name="TextBox 15"/>
          <p:cNvSpPr txBox="1"/>
          <p:nvPr/>
        </p:nvSpPr>
        <p:spPr>
          <a:xfrm>
            <a:off x="4818888" y="2962656"/>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7" name="Rounded Rectangle 16"/>
          <p:cNvSpPr/>
          <p:nvPr/>
        </p:nvSpPr>
        <p:spPr>
          <a:xfrm>
            <a:off x="5175504" y="2395728"/>
            <a:ext cx="1783080" cy="1572768"/>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560320"/>
            <a:ext cx="274320" cy="228600"/>
          </a:xfrm>
          <a:prstGeom prst="rect">
            <a:avLst/>
          </a:prstGeom>
          <a:noFill/>
        </p:spPr>
        <p:txBody>
          <a:bodyPr wrap="square" lIns="18288" rIns="18288" tIns="18288" bIns="18288" anchor="t">
            <a:spAutoFit/>
          </a:bodyPr>
          <a:lstStyle/>
          <a:p>
            <a:pPr algn="l"/>
            <a:r>
              <a:rPr sz="1800" b="1" i="0">
                <a:solidFill>
                  <a:srgbClr val="F18F4E"/>
                </a:solidFill>
                <a:latin typeface="Aptos"/>
              </a:rPr>
              <a:t>3</a:t>
            </a:r>
          </a:p>
        </p:txBody>
      </p:sp>
      <p:sp>
        <p:nvSpPr>
          <p:cNvPr id="19" name="TextBox 18"/>
          <p:cNvSpPr txBox="1"/>
          <p:nvPr/>
        </p:nvSpPr>
        <p:spPr>
          <a:xfrm>
            <a:off x="5650992" y="2578608"/>
            <a:ext cx="1097280" cy="182880"/>
          </a:xfrm>
          <a:prstGeom prst="rect">
            <a:avLst/>
          </a:prstGeom>
          <a:noFill/>
        </p:spPr>
        <p:txBody>
          <a:bodyPr wrap="square" lIns="18288" rIns="18288" tIns="18288" bIns="18288" anchor="t">
            <a:spAutoFit/>
          </a:bodyPr>
          <a:lstStyle/>
          <a:p>
            <a:pPr algn="l"/>
            <a:r>
              <a:rPr sz="1000" b="1" i="0">
                <a:solidFill>
                  <a:srgbClr val="58C4B2"/>
                </a:solidFill>
                <a:latin typeface="Aptos"/>
              </a:rPr>
              <a:t>CURATE</a:t>
            </a:r>
          </a:p>
        </p:txBody>
      </p:sp>
      <p:sp>
        <p:nvSpPr>
          <p:cNvPr id="20" name="TextBox 19"/>
          <p:cNvSpPr txBox="1"/>
          <p:nvPr/>
        </p:nvSpPr>
        <p:spPr>
          <a:xfrm>
            <a:off x="5321808" y="3017520"/>
            <a:ext cx="1463040" cy="502920"/>
          </a:xfrm>
          <a:prstGeom prst="rect">
            <a:avLst/>
          </a:prstGeom>
          <a:noFill/>
        </p:spPr>
        <p:txBody>
          <a:bodyPr wrap="square" lIns="18288" rIns="18288" tIns="18288" bIns="18288" anchor="t">
            <a:spAutoFit/>
          </a:bodyPr>
          <a:lstStyle/>
          <a:p>
            <a:pPr algn="ctr"/>
            <a:r>
              <a:rPr sz="1400" b="1" i="0">
                <a:solidFill>
                  <a:srgbClr val="F6F4EF"/>
                </a:solidFill>
                <a:latin typeface="Aptos"/>
              </a:rPr>
              <a:t>source + URL
checked date</a:t>
            </a:r>
          </a:p>
        </p:txBody>
      </p:sp>
      <p:sp>
        <p:nvSpPr>
          <p:cNvPr id="21" name="TextBox 20"/>
          <p:cNvSpPr txBox="1"/>
          <p:nvPr/>
        </p:nvSpPr>
        <p:spPr>
          <a:xfrm>
            <a:off x="7031736" y="2962656"/>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2" name="Rounded Rectangle 21"/>
          <p:cNvSpPr/>
          <p:nvPr/>
        </p:nvSpPr>
        <p:spPr>
          <a:xfrm>
            <a:off x="7388352" y="2395728"/>
            <a:ext cx="1783080" cy="157276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2560320"/>
            <a:ext cx="274320" cy="228600"/>
          </a:xfrm>
          <a:prstGeom prst="rect">
            <a:avLst/>
          </a:prstGeom>
          <a:noFill/>
        </p:spPr>
        <p:txBody>
          <a:bodyPr wrap="square" lIns="18288" rIns="18288" tIns="18288" bIns="18288" anchor="t">
            <a:spAutoFit/>
          </a:bodyPr>
          <a:lstStyle/>
          <a:p>
            <a:pPr algn="l"/>
            <a:r>
              <a:rPr sz="1800" b="1" i="0">
                <a:solidFill>
                  <a:srgbClr val="F18F4E"/>
                </a:solidFill>
                <a:latin typeface="Aptos"/>
              </a:rPr>
              <a:t>4</a:t>
            </a:r>
          </a:p>
        </p:txBody>
      </p:sp>
      <p:sp>
        <p:nvSpPr>
          <p:cNvPr id="24" name="TextBox 23"/>
          <p:cNvSpPr txBox="1"/>
          <p:nvPr/>
        </p:nvSpPr>
        <p:spPr>
          <a:xfrm>
            <a:off x="7863840" y="2578608"/>
            <a:ext cx="1097280" cy="182880"/>
          </a:xfrm>
          <a:prstGeom prst="rect">
            <a:avLst/>
          </a:prstGeom>
          <a:noFill/>
        </p:spPr>
        <p:txBody>
          <a:bodyPr wrap="square" lIns="18288" rIns="18288" tIns="18288" bIns="18288" anchor="t">
            <a:spAutoFit/>
          </a:bodyPr>
          <a:lstStyle/>
          <a:p>
            <a:pPr algn="l"/>
            <a:r>
              <a:rPr sz="1000" b="1" i="0">
                <a:solidFill>
                  <a:srgbClr val="6874F4"/>
                </a:solidFill>
                <a:latin typeface="Aptos"/>
              </a:rPr>
              <a:t>FILTER</a:t>
            </a:r>
          </a:p>
        </p:txBody>
      </p:sp>
      <p:sp>
        <p:nvSpPr>
          <p:cNvPr id="25" name="TextBox 24"/>
          <p:cNvSpPr txBox="1"/>
          <p:nvPr/>
        </p:nvSpPr>
        <p:spPr>
          <a:xfrm>
            <a:off x="7534656" y="3017520"/>
            <a:ext cx="1463040" cy="502920"/>
          </a:xfrm>
          <a:prstGeom prst="rect">
            <a:avLst/>
          </a:prstGeom>
          <a:noFill/>
        </p:spPr>
        <p:txBody>
          <a:bodyPr wrap="square" lIns="18288" rIns="18288" tIns="18288" bIns="18288" anchor="t">
            <a:spAutoFit/>
          </a:bodyPr>
          <a:lstStyle/>
          <a:p>
            <a:pPr algn="ctr"/>
            <a:r>
              <a:rPr sz="1400" b="1" i="0">
                <a:solidFill>
                  <a:srgbClr val="F6F4EF"/>
                </a:solidFill>
                <a:latin typeface="Aptos"/>
              </a:rPr>
              <a:t>match route
region + request</a:t>
            </a:r>
          </a:p>
        </p:txBody>
      </p:sp>
      <p:sp>
        <p:nvSpPr>
          <p:cNvPr id="26" name="TextBox 25"/>
          <p:cNvSpPr txBox="1"/>
          <p:nvPr/>
        </p:nvSpPr>
        <p:spPr>
          <a:xfrm>
            <a:off x="9244584" y="2962656"/>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7" name="Rounded Rectangle 26"/>
          <p:cNvSpPr/>
          <p:nvPr/>
        </p:nvSpPr>
        <p:spPr>
          <a:xfrm>
            <a:off x="9601200" y="2395728"/>
            <a:ext cx="1783080" cy="1572768"/>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29216" y="2560320"/>
            <a:ext cx="274320" cy="228600"/>
          </a:xfrm>
          <a:prstGeom prst="rect">
            <a:avLst/>
          </a:prstGeom>
          <a:noFill/>
        </p:spPr>
        <p:txBody>
          <a:bodyPr wrap="square" lIns="18288" rIns="18288" tIns="18288" bIns="18288" anchor="t">
            <a:spAutoFit/>
          </a:bodyPr>
          <a:lstStyle/>
          <a:p>
            <a:pPr algn="l"/>
            <a:r>
              <a:rPr sz="1800" b="1" i="0">
                <a:solidFill>
                  <a:srgbClr val="F18F4E"/>
                </a:solidFill>
                <a:latin typeface="Aptos"/>
              </a:rPr>
              <a:t>5</a:t>
            </a:r>
          </a:p>
        </p:txBody>
      </p:sp>
      <p:sp>
        <p:nvSpPr>
          <p:cNvPr id="29" name="TextBox 28"/>
          <p:cNvSpPr txBox="1"/>
          <p:nvPr/>
        </p:nvSpPr>
        <p:spPr>
          <a:xfrm>
            <a:off x="10076688" y="2578608"/>
            <a:ext cx="1097280" cy="182880"/>
          </a:xfrm>
          <a:prstGeom prst="rect">
            <a:avLst/>
          </a:prstGeom>
          <a:noFill/>
        </p:spPr>
        <p:txBody>
          <a:bodyPr wrap="square" lIns="18288" rIns="18288" tIns="18288" bIns="18288" anchor="t">
            <a:spAutoFit/>
          </a:bodyPr>
          <a:lstStyle/>
          <a:p>
            <a:pPr algn="l"/>
            <a:r>
              <a:rPr sz="1000" b="1" i="0">
                <a:solidFill>
                  <a:srgbClr val="6874F4"/>
                </a:solidFill>
                <a:latin typeface="Aptos"/>
              </a:rPr>
              <a:t>PASS CONTEXT</a:t>
            </a:r>
          </a:p>
        </p:txBody>
      </p:sp>
      <p:sp>
        <p:nvSpPr>
          <p:cNvPr id="30" name="TextBox 29"/>
          <p:cNvSpPr txBox="1"/>
          <p:nvPr/>
        </p:nvSpPr>
        <p:spPr>
          <a:xfrm>
            <a:off x="9747504" y="3017520"/>
            <a:ext cx="1463040" cy="502920"/>
          </a:xfrm>
          <a:prstGeom prst="rect">
            <a:avLst/>
          </a:prstGeom>
          <a:noFill/>
        </p:spPr>
        <p:txBody>
          <a:bodyPr wrap="square" lIns="18288" rIns="18288" tIns="18288" bIns="18288" anchor="t">
            <a:spAutoFit/>
          </a:bodyPr>
          <a:lstStyle/>
          <a:p>
            <a:pPr algn="ctr"/>
            <a:r>
              <a:rPr sz="1400" b="1" i="0">
                <a:solidFill>
                  <a:srgbClr val="F6F4EF"/>
                </a:solidFill>
                <a:latin typeface="Aptos"/>
              </a:rPr>
              <a:t>records enter
planner prompt</a:t>
            </a:r>
          </a:p>
        </p:txBody>
      </p:sp>
      <p:sp>
        <p:nvSpPr>
          <p:cNvPr id="31" name="TextBox 30"/>
          <p:cNvSpPr txBox="1"/>
          <p:nvPr/>
        </p:nvSpPr>
        <p:spPr>
          <a:xfrm>
            <a:off x="749808" y="4498848"/>
            <a:ext cx="1554480" cy="201168"/>
          </a:xfrm>
          <a:prstGeom prst="rect">
            <a:avLst/>
          </a:prstGeom>
          <a:noFill/>
        </p:spPr>
        <p:txBody>
          <a:bodyPr wrap="square" lIns="18288" rIns="18288" tIns="18288" bIns="18288" anchor="t">
            <a:spAutoFit/>
          </a:bodyPr>
          <a:lstStyle/>
          <a:p>
            <a:pPr algn="l"/>
            <a:r>
              <a:rPr sz="1000" b="1" i="0">
                <a:solidFill>
                  <a:srgbClr val="F18F4E"/>
                </a:solidFill>
                <a:latin typeface="Aptos"/>
              </a:rPr>
              <a:t>EXAMPLE RECORD</a:t>
            </a:r>
          </a:p>
        </p:txBody>
      </p:sp>
      <p:sp>
        <p:nvSpPr>
          <p:cNvPr id="32" name="Rounded Rectangle 31"/>
          <p:cNvSpPr/>
          <p:nvPr/>
        </p:nvSpPr>
        <p:spPr>
          <a:xfrm>
            <a:off x="749808" y="4809744"/>
            <a:ext cx="5230368" cy="100584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2" y="5047488"/>
            <a:ext cx="960120" cy="210312"/>
          </a:xfrm>
          <a:prstGeom prst="rect">
            <a:avLst/>
          </a:prstGeom>
          <a:noFill/>
        </p:spPr>
        <p:txBody>
          <a:bodyPr wrap="square" lIns="18288" rIns="18288" tIns="18288" bIns="18288" anchor="t">
            <a:spAutoFit/>
          </a:bodyPr>
          <a:lstStyle/>
          <a:p>
            <a:pPr algn="l"/>
            <a:r>
              <a:rPr sz="1700" b="1" i="0">
                <a:solidFill>
                  <a:srgbClr val="F6F4EF"/>
                </a:solidFill>
                <a:latin typeface="Aptos"/>
              </a:rPr>
              <a:t>Jabiru</a:t>
            </a:r>
          </a:p>
        </p:txBody>
      </p:sp>
      <p:sp>
        <p:nvSpPr>
          <p:cNvPr id="34" name="TextBox 33"/>
          <p:cNvSpPr txBox="1"/>
          <p:nvPr/>
        </p:nvSpPr>
        <p:spPr>
          <a:xfrm>
            <a:off x="2057400" y="5001768"/>
            <a:ext cx="3520440" cy="237744"/>
          </a:xfrm>
          <a:prstGeom prst="rect">
            <a:avLst/>
          </a:prstGeom>
          <a:noFill/>
        </p:spPr>
        <p:txBody>
          <a:bodyPr wrap="square" lIns="18288" rIns="18288" tIns="18288" bIns="18288" anchor="t">
            <a:spAutoFit/>
          </a:bodyPr>
          <a:lstStyle/>
          <a:p>
            <a:pPr algn="l"/>
            <a:r>
              <a:rPr sz="1100" b="0" i="0">
                <a:solidFill>
                  <a:srgbClr val="EAF0F9"/>
                </a:solidFill>
                <a:latin typeface="Aptos"/>
              </a:rPr>
              <a:t>region: Top End  ·  tag: culture / nature  ·  authority: park source</a:t>
            </a:r>
          </a:p>
        </p:txBody>
      </p:sp>
      <p:sp>
        <p:nvSpPr>
          <p:cNvPr id="35" name="TextBox 34"/>
          <p:cNvSpPr txBox="1"/>
          <p:nvPr/>
        </p:nvSpPr>
        <p:spPr>
          <a:xfrm>
            <a:off x="2057400" y="5330952"/>
            <a:ext cx="3520440" cy="182880"/>
          </a:xfrm>
          <a:prstGeom prst="rect">
            <a:avLst/>
          </a:prstGeom>
          <a:noFill/>
        </p:spPr>
        <p:txBody>
          <a:bodyPr wrap="square" lIns="18288" rIns="18288" tIns="18288" bIns="18288" anchor="t">
            <a:spAutoFit/>
          </a:bodyPr>
          <a:lstStyle/>
          <a:p>
            <a:pPr algn="l"/>
            <a:r>
              <a:rPr sz="1000" b="0" i="0">
                <a:solidFill>
                  <a:srgbClr val="A8B1C2"/>
                </a:solidFill>
                <a:latin typeface="Aptos"/>
              </a:rPr>
              <a:t>source URL + checked date travel with the text</a:t>
            </a:r>
          </a:p>
        </p:txBody>
      </p:sp>
      <p:sp>
        <p:nvSpPr>
          <p:cNvPr id="36" name="TextBox 35"/>
          <p:cNvSpPr txBox="1"/>
          <p:nvPr/>
        </p:nvSpPr>
        <p:spPr>
          <a:xfrm>
            <a:off x="6419088" y="4498848"/>
            <a:ext cx="2194560" cy="201168"/>
          </a:xfrm>
          <a:prstGeom prst="rect">
            <a:avLst/>
          </a:prstGeom>
          <a:noFill/>
        </p:spPr>
        <p:txBody>
          <a:bodyPr wrap="square" lIns="18288" rIns="18288" tIns="18288" bIns="18288" anchor="t">
            <a:spAutoFit/>
          </a:bodyPr>
          <a:lstStyle/>
          <a:p>
            <a:pPr algn="l"/>
            <a:r>
              <a:rPr sz="1000" b="1" i="0">
                <a:solidFill>
                  <a:srgbClr val="58C4B2"/>
                </a:solidFill>
                <a:latin typeface="Aptos"/>
              </a:rPr>
              <a:t>WHY THIS STEP MATTERS</a:t>
            </a:r>
          </a:p>
        </p:txBody>
      </p:sp>
      <p:sp>
        <p:nvSpPr>
          <p:cNvPr id="37" name="TextBox 36"/>
          <p:cNvSpPr txBox="1"/>
          <p:nvPr/>
        </p:nvSpPr>
        <p:spPr>
          <a:xfrm>
            <a:off x="6419088" y="4828032"/>
            <a:ext cx="4846320" cy="640080"/>
          </a:xfrm>
          <a:prstGeom prst="rect">
            <a:avLst/>
          </a:prstGeom>
          <a:noFill/>
        </p:spPr>
        <p:txBody>
          <a:bodyPr wrap="square" lIns="18288" rIns="18288" tIns="18288" bIns="18288" anchor="t">
            <a:spAutoFit/>
          </a:bodyPr>
          <a:lstStyle/>
          <a:p>
            <a:pPr algn="l"/>
            <a:r>
              <a:rPr sz="1600" b="1" i="0">
                <a:solidFill>
                  <a:srgbClr val="EAF0F9"/>
                </a:solidFill>
                <a:latin typeface="Aptos"/>
              </a:rPr>
              <a:t>Preparation reduces irrelevant context and preserves traceability. It also gives the team a place to detect missing, duplicated or stale records before generation.</a:t>
            </a:r>
          </a:p>
        </p:txBody>
      </p:sp>
      <p:cxnSp>
        <p:nvCxnSpPr>
          <p:cNvPr id="38" name="Connector 37"/>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DATA PREPARATION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07 · RAG</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RAG grounds the response in relevant records before Gemini writes the itinerary</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Retrieval supplies context. It does not prove that a road, permit or closure is current.</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08</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9808" y="2432304"/>
            <a:ext cx="1773936" cy="1463040"/>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679192"/>
            <a:ext cx="1554480" cy="228600"/>
          </a:xfrm>
          <a:prstGeom prst="rect">
            <a:avLst/>
          </a:prstGeom>
          <a:noFill/>
        </p:spPr>
        <p:txBody>
          <a:bodyPr wrap="square" lIns="18288" rIns="18288" tIns="18288" bIns="18288" anchor="t">
            <a:spAutoFit/>
          </a:bodyPr>
          <a:lstStyle/>
          <a:p>
            <a:pPr algn="ctr"/>
            <a:r>
              <a:rPr sz="950" b="1" i="0">
                <a:solidFill>
                  <a:srgbClr val="F18F4E"/>
                </a:solidFill>
                <a:latin typeface="Aptos"/>
              </a:rPr>
              <a:t>TRAVELLER REQUEST</a:t>
            </a:r>
          </a:p>
        </p:txBody>
      </p:sp>
      <p:sp>
        <p:nvSpPr>
          <p:cNvPr id="9" name="TextBox 8"/>
          <p:cNvSpPr txBox="1"/>
          <p:nvPr/>
        </p:nvSpPr>
        <p:spPr>
          <a:xfrm>
            <a:off x="896112" y="3090672"/>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dates, vehicle,
interests, corridor</a:t>
            </a:r>
          </a:p>
        </p:txBody>
      </p:sp>
      <p:sp>
        <p:nvSpPr>
          <p:cNvPr id="10" name="TextBox 9"/>
          <p:cNvSpPr txBox="1"/>
          <p:nvPr/>
        </p:nvSpPr>
        <p:spPr>
          <a:xfrm>
            <a:off x="2596896" y="2944368"/>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1" name="Rounded Rectangle 10"/>
          <p:cNvSpPr/>
          <p:nvPr/>
        </p:nvSpPr>
        <p:spPr>
          <a:xfrm>
            <a:off x="2962656" y="2432304"/>
            <a:ext cx="1773936" cy="1463040"/>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2384" y="2679192"/>
            <a:ext cx="1554480" cy="228600"/>
          </a:xfrm>
          <a:prstGeom prst="rect">
            <a:avLst/>
          </a:prstGeom>
          <a:noFill/>
        </p:spPr>
        <p:txBody>
          <a:bodyPr wrap="square" lIns="18288" rIns="18288" tIns="18288" bIns="18288" anchor="t">
            <a:spAutoFit/>
          </a:bodyPr>
          <a:lstStyle/>
          <a:p>
            <a:pPr algn="ctr"/>
            <a:r>
              <a:rPr sz="950" b="1" i="0">
                <a:solidFill>
                  <a:srgbClr val="58C4B2"/>
                </a:solidFill>
                <a:latin typeface="Aptos"/>
              </a:rPr>
              <a:t>REGION FILTER</a:t>
            </a:r>
          </a:p>
        </p:txBody>
      </p:sp>
      <p:sp>
        <p:nvSpPr>
          <p:cNvPr id="13" name="TextBox 12"/>
          <p:cNvSpPr txBox="1"/>
          <p:nvPr/>
        </p:nvSpPr>
        <p:spPr>
          <a:xfrm>
            <a:off x="3108960" y="3090672"/>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select matching
place records</a:t>
            </a:r>
          </a:p>
        </p:txBody>
      </p:sp>
      <p:sp>
        <p:nvSpPr>
          <p:cNvPr id="14" name="TextBox 13"/>
          <p:cNvSpPr txBox="1"/>
          <p:nvPr/>
        </p:nvSpPr>
        <p:spPr>
          <a:xfrm>
            <a:off x="4809744" y="2944368"/>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5" name="Rounded Rectangle 14"/>
          <p:cNvSpPr/>
          <p:nvPr/>
        </p:nvSpPr>
        <p:spPr>
          <a:xfrm>
            <a:off x="5175504" y="2432304"/>
            <a:ext cx="1773936" cy="1463040"/>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5232" y="2679192"/>
            <a:ext cx="1554480" cy="228600"/>
          </a:xfrm>
          <a:prstGeom prst="rect">
            <a:avLst/>
          </a:prstGeom>
          <a:noFill/>
        </p:spPr>
        <p:txBody>
          <a:bodyPr wrap="square" lIns="18288" rIns="18288" tIns="18288" bIns="18288" anchor="t">
            <a:spAutoFit/>
          </a:bodyPr>
          <a:lstStyle/>
          <a:p>
            <a:pPr algn="ctr"/>
            <a:r>
              <a:rPr sz="950" b="1" i="0">
                <a:solidFill>
                  <a:srgbClr val="6874F4"/>
                </a:solidFill>
                <a:latin typeface="Aptos"/>
              </a:rPr>
              <a:t>RETRIEVED CONTEXT</a:t>
            </a:r>
          </a:p>
        </p:txBody>
      </p:sp>
      <p:sp>
        <p:nvSpPr>
          <p:cNvPr id="17" name="TextBox 16"/>
          <p:cNvSpPr txBox="1"/>
          <p:nvPr/>
        </p:nvSpPr>
        <p:spPr>
          <a:xfrm>
            <a:off x="5321808" y="3090672"/>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source-linked
records + caveats</a:t>
            </a:r>
          </a:p>
        </p:txBody>
      </p:sp>
      <p:sp>
        <p:nvSpPr>
          <p:cNvPr id="18" name="TextBox 17"/>
          <p:cNvSpPr txBox="1"/>
          <p:nvPr/>
        </p:nvSpPr>
        <p:spPr>
          <a:xfrm>
            <a:off x="7022592" y="2944368"/>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9" name="Rounded Rectangle 18"/>
          <p:cNvSpPr/>
          <p:nvPr/>
        </p:nvSpPr>
        <p:spPr>
          <a:xfrm>
            <a:off x="7388352" y="2432304"/>
            <a:ext cx="1773936" cy="1463040"/>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2679192"/>
            <a:ext cx="1554480" cy="228600"/>
          </a:xfrm>
          <a:prstGeom prst="rect">
            <a:avLst/>
          </a:prstGeom>
          <a:noFill/>
        </p:spPr>
        <p:txBody>
          <a:bodyPr wrap="square" lIns="18288" rIns="18288" tIns="18288" bIns="18288" anchor="t">
            <a:spAutoFit/>
          </a:bodyPr>
          <a:lstStyle/>
          <a:p>
            <a:pPr algn="ctr"/>
            <a:r>
              <a:rPr sz="950" b="1" i="0">
                <a:solidFill>
                  <a:srgbClr val="F18F4E"/>
                </a:solidFill>
                <a:latin typeface="Aptos"/>
              </a:rPr>
              <a:t>STRUCTURED PROMPT</a:t>
            </a:r>
          </a:p>
        </p:txBody>
      </p:sp>
      <p:sp>
        <p:nvSpPr>
          <p:cNvPr id="21" name="TextBox 20"/>
          <p:cNvSpPr txBox="1"/>
          <p:nvPr/>
        </p:nvSpPr>
        <p:spPr>
          <a:xfrm>
            <a:off x="7534656" y="3090672"/>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constraints +
context + schema</a:t>
            </a:r>
          </a:p>
        </p:txBody>
      </p:sp>
      <p:sp>
        <p:nvSpPr>
          <p:cNvPr id="22" name="TextBox 21"/>
          <p:cNvSpPr txBox="1"/>
          <p:nvPr/>
        </p:nvSpPr>
        <p:spPr>
          <a:xfrm>
            <a:off x="9235440" y="2944368"/>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3" name="Rounded Rectangle 22"/>
          <p:cNvSpPr/>
          <p:nvPr/>
        </p:nvSpPr>
        <p:spPr>
          <a:xfrm>
            <a:off x="9601200" y="2432304"/>
            <a:ext cx="1773936" cy="1463040"/>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0928" y="2679192"/>
            <a:ext cx="1554480" cy="228600"/>
          </a:xfrm>
          <a:prstGeom prst="rect">
            <a:avLst/>
          </a:prstGeom>
          <a:noFill/>
        </p:spPr>
        <p:txBody>
          <a:bodyPr wrap="square" lIns="18288" rIns="18288" tIns="18288" bIns="18288" anchor="t">
            <a:spAutoFit/>
          </a:bodyPr>
          <a:lstStyle/>
          <a:p>
            <a:pPr algn="ctr"/>
            <a:r>
              <a:rPr sz="950" b="1" i="0">
                <a:solidFill>
                  <a:srgbClr val="58C4B2"/>
                </a:solidFill>
                <a:latin typeface="Aptos"/>
              </a:rPr>
              <a:t>ITINERARY JSON</a:t>
            </a:r>
          </a:p>
        </p:txBody>
      </p:sp>
      <p:sp>
        <p:nvSpPr>
          <p:cNvPr id="25" name="TextBox 24"/>
          <p:cNvSpPr txBox="1"/>
          <p:nvPr/>
        </p:nvSpPr>
        <p:spPr>
          <a:xfrm>
            <a:off x="9747504" y="3090672"/>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stops, reasons,
checks and notes</a:t>
            </a:r>
          </a:p>
        </p:txBody>
      </p:sp>
      <p:sp>
        <p:nvSpPr>
          <p:cNvPr id="26" name="Rounded Rectangle 25"/>
          <p:cNvSpPr/>
          <p:nvPr/>
        </p:nvSpPr>
        <p:spPr>
          <a:xfrm>
            <a:off x="749808" y="4462272"/>
            <a:ext cx="3401568" cy="1133856"/>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 y="4681728"/>
            <a:ext cx="914400" cy="164592"/>
          </a:xfrm>
          <a:prstGeom prst="rect">
            <a:avLst/>
          </a:prstGeom>
          <a:noFill/>
        </p:spPr>
        <p:txBody>
          <a:bodyPr wrap="square" lIns="18288" rIns="18288" tIns="18288" bIns="18288" anchor="t">
            <a:spAutoFit/>
          </a:bodyPr>
          <a:lstStyle/>
          <a:p>
            <a:pPr algn="l"/>
            <a:r>
              <a:rPr sz="1000" b="1" i="0">
                <a:solidFill>
                  <a:srgbClr val="58C4B2"/>
                </a:solidFill>
                <a:latin typeface="Aptos"/>
              </a:rPr>
              <a:t>RAG DOES</a:t>
            </a:r>
          </a:p>
        </p:txBody>
      </p:sp>
      <p:sp>
        <p:nvSpPr>
          <p:cNvPr id="28" name="TextBox 27"/>
          <p:cNvSpPr txBox="1"/>
          <p:nvPr/>
        </p:nvSpPr>
        <p:spPr>
          <a:xfrm>
            <a:off x="950976" y="5001768"/>
            <a:ext cx="2834640" cy="365760"/>
          </a:xfrm>
          <a:prstGeom prst="rect">
            <a:avLst/>
          </a:prstGeom>
          <a:noFill/>
        </p:spPr>
        <p:txBody>
          <a:bodyPr wrap="square" lIns="18288" rIns="18288" tIns="18288" bIns="18288" anchor="t">
            <a:spAutoFit/>
          </a:bodyPr>
          <a:lstStyle/>
          <a:p>
            <a:pPr algn="l"/>
            <a:r>
              <a:rPr sz="1300" b="1" i="0">
                <a:solidFill>
                  <a:srgbClr val="EAF0F9"/>
                </a:solidFill>
                <a:latin typeface="Aptos"/>
              </a:rPr>
              <a:t>Finds relevant records and carries their context into the prompt.</a:t>
            </a:r>
          </a:p>
        </p:txBody>
      </p:sp>
      <p:sp>
        <p:nvSpPr>
          <p:cNvPr id="29" name="Rounded Rectangle 28"/>
          <p:cNvSpPr/>
          <p:nvPr/>
        </p:nvSpPr>
        <p:spPr>
          <a:xfrm>
            <a:off x="4389120" y="4462272"/>
            <a:ext cx="3401568" cy="1133856"/>
          </a:xfrm>
          <a:prstGeom prst="roundRect">
            <a:avLst>
              <a:gd name="adj" fmla="val 12000"/>
            </a:avLst>
          </a:prstGeom>
          <a:solidFill>
            <a:srgbClr val="111C2A"/>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0288" y="4681728"/>
            <a:ext cx="1234440" cy="164592"/>
          </a:xfrm>
          <a:prstGeom prst="rect">
            <a:avLst/>
          </a:prstGeom>
          <a:noFill/>
        </p:spPr>
        <p:txBody>
          <a:bodyPr wrap="square" lIns="18288" rIns="18288" tIns="18288" bIns="18288" anchor="t">
            <a:spAutoFit/>
          </a:bodyPr>
          <a:lstStyle/>
          <a:p>
            <a:pPr algn="l"/>
            <a:r>
              <a:rPr sz="1000" b="1" i="0">
                <a:solidFill>
                  <a:srgbClr val="E16B6A"/>
                </a:solidFill>
                <a:latin typeface="Aptos"/>
              </a:rPr>
              <a:t>RAG DOES NOT</a:t>
            </a:r>
          </a:p>
        </p:txBody>
      </p:sp>
      <p:sp>
        <p:nvSpPr>
          <p:cNvPr id="31" name="TextBox 30"/>
          <p:cNvSpPr txBox="1"/>
          <p:nvPr/>
        </p:nvSpPr>
        <p:spPr>
          <a:xfrm>
            <a:off x="4590288" y="5001768"/>
            <a:ext cx="2834640" cy="365760"/>
          </a:xfrm>
          <a:prstGeom prst="rect">
            <a:avLst/>
          </a:prstGeom>
          <a:noFill/>
        </p:spPr>
        <p:txBody>
          <a:bodyPr wrap="square" lIns="18288" rIns="18288" tIns="18288" bIns="18288" anchor="t">
            <a:spAutoFit/>
          </a:bodyPr>
          <a:lstStyle/>
          <a:p>
            <a:pPr algn="l"/>
            <a:r>
              <a:rPr sz="1300" b="1" i="0">
                <a:solidFill>
                  <a:srgbClr val="EAF0F9"/>
                </a:solidFill>
                <a:latin typeface="Aptos"/>
              </a:rPr>
              <a:t>Guarantee current conditions or replace official checks.</a:t>
            </a:r>
          </a:p>
        </p:txBody>
      </p:sp>
      <p:sp>
        <p:nvSpPr>
          <p:cNvPr id="32" name="Rounded Rectangle 31"/>
          <p:cNvSpPr/>
          <p:nvPr/>
        </p:nvSpPr>
        <p:spPr>
          <a:xfrm>
            <a:off x="8028431" y="4462272"/>
            <a:ext cx="3383280" cy="1133856"/>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4681728"/>
            <a:ext cx="1325880" cy="164592"/>
          </a:xfrm>
          <a:prstGeom prst="rect">
            <a:avLst/>
          </a:prstGeom>
          <a:noFill/>
        </p:spPr>
        <p:txBody>
          <a:bodyPr wrap="square" lIns="18288" rIns="18288" tIns="18288" bIns="18288" anchor="t">
            <a:spAutoFit/>
          </a:bodyPr>
          <a:lstStyle/>
          <a:p>
            <a:pPr algn="l"/>
            <a:r>
              <a:rPr sz="1000" b="1" i="0">
                <a:solidFill>
                  <a:srgbClr val="6874F4"/>
                </a:solidFill>
                <a:latin typeface="Aptos"/>
              </a:rPr>
              <a:t>HUMAN CONTROL</a:t>
            </a:r>
          </a:p>
        </p:txBody>
      </p:sp>
      <p:sp>
        <p:nvSpPr>
          <p:cNvPr id="34" name="TextBox 33"/>
          <p:cNvSpPr txBox="1"/>
          <p:nvPr/>
        </p:nvSpPr>
        <p:spPr>
          <a:xfrm>
            <a:off x="8229600" y="5001768"/>
            <a:ext cx="2834640" cy="365760"/>
          </a:xfrm>
          <a:prstGeom prst="rect">
            <a:avLst/>
          </a:prstGeom>
          <a:noFill/>
        </p:spPr>
        <p:txBody>
          <a:bodyPr wrap="square" lIns="18288" rIns="18288" tIns="18288" bIns="18288" anchor="t">
            <a:spAutoFit/>
          </a:bodyPr>
          <a:lstStyle/>
          <a:p>
            <a:pPr algn="l"/>
            <a:r>
              <a:rPr sz="1300" b="1" i="0">
                <a:solidFill>
                  <a:srgbClr val="EAF0F9"/>
                </a:solidFill>
                <a:latin typeface="Aptos"/>
              </a:rPr>
              <a:t>The traveller reviews, edits and accepts the proposed route.</a:t>
            </a:r>
          </a:p>
        </p:txBody>
      </p:sp>
      <p:cxnSp>
        <p:nvCxnSpPr>
          <p:cNvPr id="35" name="Connector 34"/>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FILE-BASED, REGION-FILTERED 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08 · APP STRUCTURE</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app turns a structured plan into a reviewable traveller workflow</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The app is the interface between the planner service and the person making the trip decision.</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09</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9808" y="2331720"/>
            <a:ext cx="1773936" cy="1572768"/>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615184"/>
            <a:ext cx="1554480" cy="201168"/>
          </a:xfrm>
          <a:prstGeom prst="rect">
            <a:avLst/>
          </a:prstGeom>
          <a:noFill/>
        </p:spPr>
        <p:txBody>
          <a:bodyPr wrap="square" lIns="18288" rIns="18288" tIns="18288" bIns="18288" anchor="t">
            <a:spAutoFit/>
          </a:bodyPr>
          <a:lstStyle/>
          <a:p>
            <a:pPr algn="ctr"/>
            <a:r>
              <a:rPr sz="1000" b="1" i="0">
                <a:solidFill>
                  <a:srgbClr val="F18F4E"/>
                </a:solidFill>
                <a:latin typeface="Aptos"/>
              </a:rPr>
              <a:t>TRAVELLER</a:t>
            </a:r>
          </a:p>
        </p:txBody>
      </p:sp>
      <p:sp>
        <p:nvSpPr>
          <p:cNvPr id="9" name="TextBox 8"/>
          <p:cNvSpPr txBox="1"/>
          <p:nvPr/>
        </p:nvSpPr>
        <p:spPr>
          <a:xfrm>
            <a:off x="896112" y="3054096"/>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enter route
constraints</a:t>
            </a:r>
          </a:p>
        </p:txBody>
      </p:sp>
      <p:sp>
        <p:nvSpPr>
          <p:cNvPr id="10" name="TextBox 9"/>
          <p:cNvSpPr txBox="1"/>
          <p:nvPr/>
        </p:nvSpPr>
        <p:spPr>
          <a:xfrm>
            <a:off x="2596896" y="2926080"/>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1" name="Rounded Rectangle 10"/>
          <p:cNvSpPr/>
          <p:nvPr/>
        </p:nvSpPr>
        <p:spPr>
          <a:xfrm>
            <a:off x="2962656" y="2331720"/>
            <a:ext cx="1773936" cy="1572768"/>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2384" y="2615184"/>
            <a:ext cx="1554480" cy="201168"/>
          </a:xfrm>
          <a:prstGeom prst="rect">
            <a:avLst/>
          </a:prstGeom>
          <a:noFill/>
        </p:spPr>
        <p:txBody>
          <a:bodyPr wrap="square" lIns="18288" rIns="18288" tIns="18288" bIns="18288" anchor="t">
            <a:spAutoFit/>
          </a:bodyPr>
          <a:lstStyle/>
          <a:p>
            <a:pPr algn="ctr"/>
            <a:r>
              <a:rPr sz="1000" b="1" i="0">
                <a:solidFill>
                  <a:srgbClr val="58C4B2"/>
                </a:solidFill>
                <a:latin typeface="Aptos"/>
              </a:rPr>
              <a:t>FLUTTER APP</a:t>
            </a:r>
          </a:p>
        </p:txBody>
      </p:sp>
      <p:sp>
        <p:nvSpPr>
          <p:cNvPr id="13" name="TextBox 12"/>
          <p:cNvSpPr txBox="1"/>
          <p:nvPr/>
        </p:nvSpPr>
        <p:spPr>
          <a:xfrm>
            <a:off x="3108960" y="3054096"/>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form, map,
stops, edits</a:t>
            </a:r>
          </a:p>
        </p:txBody>
      </p:sp>
      <p:sp>
        <p:nvSpPr>
          <p:cNvPr id="14" name="TextBox 13"/>
          <p:cNvSpPr txBox="1"/>
          <p:nvPr/>
        </p:nvSpPr>
        <p:spPr>
          <a:xfrm>
            <a:off x="4809744" y="2926080"/>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5" name="Rounded Rectangle 14"/>
          <p:cNvSpPr/>
          <p:nvPr/>
        </p:nvSpPr>
        <p:spPr>
          <a:xfrm>
            <a:off x="5175504" y="2331720"/>
            <a:ext cx="1773936" cy="1572768"/>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5232" y="2615184"/>
            <a:ext cx="1554480" cy="201168"/>
          </a:xfrm>
          <a:prstGeom prst="rect">
            <a:avLst/>
          </a:prstGeom>
          <a:noFill/>
        </p:spPr>
        <p:txBody>
          <a:bodyPr wrap="square" lIns="18288" rIns="18288" tIns="18288" bIns="18288" anchor="t">
            <a:spAutoFit/>
          </a:bodyPr>
          <a:lstStyle/>
          <a:p>
            <a:pPr algn="ctr"/>
            <a:r>
              <a:rPr sz="1000" b="1" i="0">
                <a:solidFill>
                  <a:srgbClr val="6874F4"/>
                </a:solidFill>
                <a:latin typeface="Aptos"/>
              </a:rPr>
              <a:t>PLANNER API</a:t>
            </a:r>
          </a:p>
        </p:txBody>
      </p:sp>
      <p:sp>
        <p:nvSpPr>
          <p:cNvPr id="17" name="TextBox 16"/>
          <p:cNvSpPr txBox="1"/>
          <p:nvPr/>
        </p:nvSpPr>
        <p:spPr>
          <a:xfrm>
            <a:off x="5321808" y="3054096"/>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Firebase auth
+ request</a:t>
            </a:r>
          </a:p>
        </p:txBody>
      </p:sp>
      <p:sp>
        <p:nvSpPr>
          <p:cNvPr id="18" name="TextBox 17"/>
          <p:cNvSpPr txBox="1"/>
          <p:nvPr/>
        </p:nvSpPr>
        <p:spPr>
          <a:xfrm>
            <a:off x="7022592" y="2926080"/>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19" name="Rounded Rectangle 18"/>
          <p:cNvSpPr/>
          <p:nvPr/>
        </p:nvSpPr>
        <p:spPr>
          <a:xfrm>
            <a:off x="7388352" y="2331720"/>
            <a:ext cx="1773936" cy="1572768"/>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2615184"/>
            <a:ext cx="1554480" cy="201168"/>
          </a:xfrm>
          <a:prstGeom prst="rect">
            <a:avLst/>
          </a:prstGeom>
          <a:noFill/>
        </p:spPr>
        <p:txBody>
          <a:bodyPr wrap="square" lIns="18288" rIns="18288" tIns="18288" bIns="18288" anchor="t">
            <a:spAutoFit/>
          </a:bodyPr>
          <a:lstStyle/>
          <a:p>
            <a:pPr algn="ctr"/>
            <a:r>
              <a:rPr sz="1000" b="1" i="0">
                <a:solidFill>
                  <a:srgbClr val="F18F4E"/>
                </a:solidFill>
                <a:latin typeface="Aptos"/>
              </a:rPr>
              <a:t>RAG + GEMINI</a:t>
            </a:r>
          </a:p>
        </p:txBody>
      </p:sp>
      <p:sp>
        <p:nvSpPr>
          <p:cNvPr id="21" name="TextBox 20"/>
          <p:cNvSpPr txBox="1"/>
          <p:nvPr/>
        </p:nvSpPr>
        <p:spPr>
          <a:xfrm>
            <a:off x="7534656" y="3054096"/>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retrieve context
+ return JSON</a:t>
            </a:r>
          </a:p>
        </p:txBody>
      </p:sp>
      <p:sp>
        <p:nvSpPr>
          <p:cNvPr id="22" name="TextBox 21"/>
          <p:cNvSpPr txBox="1"/>
          <p:nvPr/>
        </p:nvSpPr>
        <p:spPr>
          <a:xfrm>
            <a:off x="9235440" y="2926080"/>
            <a:ext cx="292608" cy="256032"/>
          </a:xfrm>
          <a:prstGeom prst="rect">
            <a:avLst/>
          </a:prstGeom>
          <a:noFill/>
        </p:spPr>
        <p:txBody>
          <a:bodyPr wrap="square" lIns="18288" rIns="18288" tIns="18288" bIns="18288" anchor="t">
            <a:spAutoFit/>
          </a:bodyPr>
          <a:lstStyle/>
          <a:p>
            <a:pPr algn="ctr"/>
            <a:r>
              <a:rPr sz="2000" b="1" i="0">
                <a:solidFill>
                  <a:srgbClr val="F18F4E"/>
                </a:solidFill>
                <a:latin typeface="Aptos"/>
              </a:rPr>
              <a:t>→</a:t>
            </a:r>
          </a:p>
        </p:txBody>
      </p:sp>
      <p:sp>
        <p:nvSpPr>
          <p:cNvPr id="23" name="Rounded Rectangle 22"/>
          <p:cNvSpPr/>
          <p:nvPr/>
        </p:nvSpPr>
        <p:spPr>
          <a:xfrm>
            <a:off x="9601200" y="2331720"/>
            <a:ext cx="1773936" cy="1572768"/>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0928" y="2615184"/>
            <a:ext cx="1554480" cy="201168"/>
          </a:xfrm>
          <a:prstGeom prst="rect">
            <a:avLst/>
          </a:prstGeom>
          <a:noFill/>
        </p:spPr>
        <p:txBody>
          <a:bodyPr wrap="square" lIns="18288" rIns="18288" tIns="18288" bIns="18288" anchor="t">
            <a:spAutoFit/>
          </a:bodyPr>
          <a:lstStyle/>
          <a:p>
            <a:pPr algn="ctr"/>
            <a:r>
              <a:rPr sz="1000" b="1" i="0">
                <a:solidFill>
                  <a:srgbClr val="58C4B2"/>
                </a:solidFill>
                <a:latin typeface="Aptos"/>
              </a:rPr>
              <a:t>FLUTTER RESULT</a:t>
            </a:r>
          </a:p>
        </p:txBody>
      </p:sp>
      <p:sp>
        <p:nvSpPr>
          <p:cNvPr id="25" name="TextBox 24"/>
          <p:cNvSpPr txBox="1"/>
          <p:nvPr/>
        </p:nvSpPr>
        <p:spPr>
          <a:xfrm>
            <a:off x="9747504" y="3054096"/>
            <a:ext cx="1463040" cy="475488"/>
          </a:xfrm>
          <a:prstGeom prst="rect">
            <a:avLst/>
          </a:prstGeom>
          <a:noFill/>
        </p:spPr>
        <p:txBody>
          <a:bodyPr wrap="square" lIns="18288" rIns="18288" tIns="18288" bIns="18288" anchor="t">
            <a:spAutoFit/>
          </a:bodyPr>
          <a:lstStyle/>
          <a:p>
            <a:pPr algn="ctr"/>
            <a:r>
              <a:rPr sz="1400" b="1" i="0">
                <a:solidFill>
                  <a:srgbClr val="F6F4EF"/>
                </a:solidFill>
                <a:latin typeface="Aptos"/>
              </a:rPr>
              <a:t>itinerary, map
+ stop detail</a:t>
            </a:r>
          </a:p>
        </p:txBody>
      </p:sp>
      <p:cxnSp>
        <p:nvCxnSpPr>
          <p:cNvPr id="26" name="Connector 25"/>
          <p:cNvCxnSpPr/>
          <p:nvPr/>
        </p:nvCxnSpPr>
        <p:spPr>
          <a:xfrm flipH="1">
            <a:off x="1627632" y="4096512"/>
            <a:ext cx="8887968" cy="0"/>
          </a:xfrm>
          <a:prstGeom prst="line">
            <a:avLst/>
          </a:prstGeom>
          <a:ln w="19050">
            <a:solidFill>
              <a:srgbClr val="6874F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10912" y="3931920"/>
            <a:ext cx="1828800" cy="201168"/>
          </a:xfrm>
          <a:prstGeom prst="rect">
            <a:avLst/>
          </a:prstGeom>
          <a:noFill/>
        </p:spPr>
        <p:txBody>
          <a:bodyPr wrap="square" lIns="18288" rIns="18288" tIns="18288" bIns="18288" anchor="t">
            <a:spAutoFit/>
          </a:bodyPr>
          <a:lstStyle/>
          <a:p>
            <a:pPr algn="ctr"/>
            <a:r>
              <a:rPr sz="1200" b="1" i="0">
                <a:solidFill>
                  <a:srgbClr val="6874F4"/>
                </a:solidFill>
                <a:latin typeface="Aptos"/>
              </a:rPr>
              <a:t>review and edit</a:t>
            </a:r>
          </a:p>
        </p:txBody>
      </p:sp>
      <p:sp>
        <p:nvSpPr>
          <p:cNvPr id="28" name="TextBox 27"/>
          <p:cNvSpPr txBox="1"/>
          <p:nvPr/>
        </p:nvSpPr>
        <p:spPr>
          <a:xfrm>
            <a:off x="2011680" y="4590288"/>
            <a:ext cx="8138160" cy="384048"/>
          </a:xfrm>
          <a:prstGeom prst="rect">
            <a:avLst/>
          </a:prstGeom>
          <a:noFill/>
        </p:spPr>
        <p:txBody>
          <a:bodyPr wrap="square" lIns="18288" rIns="18288" tIns="18288" bIns="18288" anchor="t">
            <a:spAutoFit/>
          </a:bodyPr>
          <a:lstStyle/>
          <a:p>
            <a:pPr algn="ctr"/>
            <a:r>
              <a:rPr sz="2100" b="1" i="0">
                <a:solidFill>
                  <a:srgbClr val="F6F4EF"/>
                </a:solidFill>
                <a:latin typeface="Aptos"/>
              </a:rPr>
              <a:t>The loop returns to the traveller. The user can inspect a stop, change the route, or reject the suggestion.</a:t>
            </a:r>
          </a:p>
        </p:txBody>
      </p:sp>
      <p:sp>
        <p:nvSpPr>
          <p:cNvPr id="29" name="Rounded Rectangle 28"/>
          <p:cNvSpPr/>
          <p:nvPr/>
        </p:nvSpPr>
        <p:spPr>
          <a:xfrm>
            <a:off x="2487168" y="5321808"/>
            <a:ext cx="7260336" cy="475488"/>
          </a:xfrm>
          <a:prstGeom prst="roundRect">
            <a:avLst>
              <a:gd name="adj" fmla="val 12000"/>
            </a:avLst>
          </a:prstGeom>
          <a:solidFill>
            <a:srgbClr val="2A1D1D"/>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88336" y="5468112"/>
            <a:ext cx="6839712" cy="164592"/>
          </a:xfrm>
          <a:prstGeom prst="rect">
            <a:avLst/>
          </a:prstGeom>
          <a:noFill/>
        </p:spPr>
        <p:txBody>
          <a:bodyPr wrap="square" lIns="18288" rIns="18288" tIns="18288" bIns="18288" anchor="t">
            <a:spAutoFit/>
          </a:bodyPr>
          <a:lstStyle/>
          <a:p>
            <a:pPr algn="ctr"/>
            <a:r>
              <a:rPr sz="1000" b="1" i="0">
                <a:solidFill>
                  <a:srgbClr val="E16B6A"/>
                </a:solidFill>
                <a:latin typeface="Aptos"/>
              </a:rPr>
              <a:t>CURRENT LIMIT: the complete authenticated app-to-planner flow still needs verification on a connected device.</a:t>
            </a:r>
          </a:p>
        </p:txBody>
      </p:sp>
      <p:cxnSp>
        <p:nvCxnSpPr>
          <p:cNvPr id="31" name="Connector 30"/>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FLUTTER + PLANNER SERVICE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09 · CURRENT BUILD</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current app makes a route inspectable and editable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Implementation evidence comes from the Flutter mobile experience and the planner service, with clear limits.</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10</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103120"/>
            <a:ext cx="2962656" cy="3593592"/>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nt-simulator-app-capture.png"/>
          <p:cNvPicPr>
            <a:picLocks noChangeAspect="1"/>
          </p:cNvPicPr>
          <p:nvPr/>
        </p:nvPicPr>
        <p:blipFill>
          <a:blip r:embed="rId2"/>
          <a:stretch>
            <a:fillRect/>
          </a:stretch>
        </p:blipFill>
        <p:spPr>
          <a:xfrm>
            <a:off x="822960" y="2267712"/>
            <a:ext cx="2633472" cy="2834640"/>
          </a:xfrm>
          <a:prstGeom prst="rect">
            <a:avLst/>
          </a:prstGeom>
        </p:spPr>
      </p:pic>
      <p:sp>
        <p:nvSpPr>
          <p:cNvPr id="9" name="TextBox 8"/>
          <p:cNvSpPr txBox="1"/>
          <p:nvPr/>
        </p:nvSpPr>
        <p:spPr>
          <a:xfrm>
            <a:off x="896112" y="5230368"/>
            <a:ext cx="2286000" cy="201168"/>
          </a:xfrm>
          <a:prstGeom prst="rect">
            <a:avLst/>
          </a:prstGeom>
          <a:noFill/>
        </p:spPr>
        <p:txBody>
          <a:bodyPr wrap="square" lIns="18288" rIns="18288" tIns="18288" bIns="18288" anchor="t">
            <a:spAutoFit/>
          </a:bodyPr>
          <a:lstStyle/>
          <a:p>
            <a:pPr algn="l"/>
            <a:r>
              <a:rPr sz="1300" b="1" i="0">
                <a:solidFill>
                  <a:srgbClr val="F6F4EF"/>
                </a:solidFill>
                <a:latin typeface="Aptos"/>
              </a:rPr>
              <a:t>Current simulator output</a:t>
            </a:r>
          </a:p>
        </p:txBody>
      </p:sp>
      <p:sp>
        <p:nvSpPr>
          <p:cNvPr id="10" name="TextBox 9"/>
          <p:cNvSpPr txBox="1"/>
          <p:nvPr/>
        </p:nvSpPr>
        <p:spPr>
          <a:xfrm>
            <a:off x="896112" y="5504688"/>
            <a:ext cx="2331720" cy="182880"/>
          </a:xfrm>
          <a:prstGeom prst="rect">
            <a:avLst/>
          </a:prstGeom>
          <a:noFill/>
        </p:spPr>
        <p:txBody>
          <a:bodyPr wrap="square" lIns="18288" rIns="18288" tIns="18288" bIns="18288" anchor="t">
            <a:spAutoFit/>
          </a:bodyPr>
          <a:lstStyle/>
          <a:p>
            <a:pPr algn="l"/>
            <a:r>
              <a:rPr sz="1000" b="0" i="0">
                <a:solidFill>
                  <a:srgbClr val="A8B1C2"/>
                </a:solidFill>
                <a:latin typeface="Aptos"/>
              </a:rPr>
              <a:t>Debug build · offline suggestion</a:t>
            </a:r>
          </a:p>
        </p:txBody>
      </p:sp>
      <p:sp>
        <p:nvSpPr>
          <p:cNvPr id="11" name="Rounded Rectangle 10"/>
          <p:cNvSpPr/>
          <p:nvPr/>
        </p:nvSpPr>
        <p:spPr>
          <a:xfrm>
            <a:off x="3886200" y="2103120"/>
            <a:ext cx="2962656" cy="3593592"/>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66-detail.png"/>
          <p:cNvPicPr>
            <a:picLocks noChangeAspect="1"/>
          </p:cNvPicPr>
          <p:nvPr/>
        </p:nvPicPr>
        <p:blipFill>
          <a:blip r:embed="rId3"/>
          <a:stretch>
            <a:fillRect/>
          </a:stretch>
        </p:blipFill>
        <p:spPr>
          <a:xfrm>
            <a:off x="4050791" y="2267712"/>
            <a:ext cx="2633472" cy="2834640"/>
          </a:xfrm>
          <a:prstGeom prst="rect">
            <a:avLst/>
          </a:prstGeom>
        </p:spPr>
      </p:pic>
      <p:sp>
        <p:nvSpPr>
          <p:cNvPr id="13" name="TextBox 12"/>
          <p:cNvSpPr txBox="1"/>
          <p:nvPr/>
        </p:nvSpPr>
        <p:spPr>
          <a:xfrm>
            <a:off x="4123944" y="5230368"/>
            <a:ext cx="2286000" cy="201168"/>
          </a:xfrm>
          <a:prstGeom prst="rect">
            <a:avLst/>
          </a:prstGeom>
          <a:noFill/>
        </p:spPr>
        <p:txBody>
          <a:bodyPr wrap="square" lIns="18288" rIns="18288" tIns="18288" bIns="18288" anchor="t">
            <a:spAutoFit/>
          </a:bodyPr>
          <a:lstStyle/>
          <a:p>
            <a:pPr algn="l"/>
            <a:r>
              <a:rPr sz="1300" b="1" i="0">
                <a:solidFill>
                  <a:srgbClr val="F6F4EF"/>
                </a:solidFill>
                <a:latin typeface="Aptos"/>
              </a:rPr>
              <a:t>Stop detail</a:t>
            </a:r>
          </a:p>
        </p:txBody>
      </p:sp>
      <p:sp>
        <p:nvSpPr>
          <p:cNvPr id="14" name="TextBox 13"/>
          <p:cNvSpPr txBox="1"/>
          <p:nvPr/>
        </p:nvSpPr>
        <p:spPr>
          <a:xfrm>
            <a:off x="4123944" y="5504688"/>
            <a:ext cx="2331720" cy="182880"/>
          </a:xfrm>
          <a:prstGeom prst="rect">
            <a:avLst/>
          </a:prstGeom>
          <a:noFill/>
        </p:spPr>
        <p:txBody>
          <a:bodyPr wrap="square" lIns="18288" rIns="18288" tIns="18288" bIns="18288" anchor="t">
            <a:spAutoFit/>
          </a:bodyPr>
          <a:lstStyle/>
          <a:p>
            <a:pPr algn="l"/>
            <a:r>
              <a:rPr sz="1000" b="0" i="0">
                <a:solidFill>
                  <a:srgbClr val="A8B1C2"/>
                </a:solidFill>
                <a:latin typeface="Aptos"/>
              </a:rPr>
              <a:t>Current capture · route content</a:t>
            </a:r>
          </a:p>
        </p:txBody>
      </p:sp>
      <p:sp>
        <p:nvSpPr>
          <p:cNvPr id="15" name="TextBox 14"/>
          <p:cNvSpPr txBox="1"/>
          <p:nvPr/>
        </p:nvSpPr>
        <p:spPr>
          <a:xfrm>
            <a:off x="7333488" y="2157984"/>
            <a:ext cx="3657600" cy="219456"/>
          </a:xfrm>
          <a:prstGeom prst="rect">
            <a:avLst/>
          </a:prstGeom>
          <a:noFill/>
        </p:spPr>
        <p:txBody>
          <a:bodyPr wrap="square" lIns="18288" rIns="18288" tIns="18288" bIns="18288" anchor="t">
            <a:spAutoFit/>
          </a:bodyPr>
          <a:lstStyle/>
          <a:p>
            <a:pPr algn="l"/>
            <a:r>
              <a:rPr sz="1100" b="1" i="0">
                <a:solidFill>
                  <a:srgbClr val="F18F4E"/>
                </a:solidFill>
                <a:latin typeface="Aptos"/>
              </a:rPr>
              <a:t>WHAT EXISTS</a:t>
            </a:r>
          </a:p>
        </p:txBody>
      </p:sp>
      <p:sp>
        <p:nvSpPr>
          <p:cNvPr id="16" name="Rounded Rectangle 15"/>
          <p:cNvSpPr/>
          <p:nvPr/>
        </p:nvSpPr>
        <p:spPr>
          <a:xfrm>
            <a:off x="7333488" y="2569463"/>
            <a:ext cx="109728" cy="109728"/>
          </a:xfrm>
          <a:prstGeom prst="roundRect">
            <a:avLst>
              <a:gd name="adj" fmla="val 12000"/>
            </a:avLst>
          </a:prstGeom>
          <a:solidFill>
            <a:srgbClr val="F18F4E"/>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62088" y="2542032"/>
            <a:ext cx="1207008" cy="256032"/>
          </a:xfrm>
          <a:prstGeom prst="rect">
            <a:avLst/>
          </a:prstGeom>
          <a:noFill/>
        </p:spPr>
        <p:txBody>
          <a:bodyPr wrap="square" lIns="18288" rIns="18288" tIns="18288" bIns="18288" anchor="t">
            <a:spAutoFit/>
          </a:bodyPr>
          <a:lstStyle/>
          <a:p>
            <a:pPr algn="l"/>
            <a:r>
              <a:rPr sz="1300" b="1" i="0">
                <a:solidFill>
                  <a:srgbClr val="F6F4EF"/>
                </a:solidFill>
                <a:latin typeface="Aptos"/>
              </a:rPr>
              <a:t>Flutter app</a:t>
            </a:r>
          </a:p>
        </p:txBody>
      </p:sp>
      <p:sp>
        <p:nvSpPr>
          <p:cNvPr id="18" name="TextBox 17"/>
          <p:cNvSpPr txBox="1"/>
          <p:nvPr/>
        </p:nvSpPr>
        <p:spPr>
          <a:xfrm>
            <a:off x="8769096" y="2542032"/>
            <a:ext cx="2724911" cy="502920"/>
          </a:xfrm>
          <a:prstGeom prst="rect">
            <a:avLst/>
          </a:prstGeom>
          <a:noFill/>
        </p:spPr>
        <p:txBody>
          <a:bodyPr wrap="square" lIns="18288" rIns="18288" tIns="18288" bIns="18288" anchor="t">
            <a:spAutoFit/>
          </a:bodyPr>
          <a:lstStyle/>
          <a:p>
            <a:pPr algn="l"/>
            <a:r>
              <a:rPr sz="1300" b="0" i="0">
                <a:solidFill>
                  <a:srgbClr val="A8B1C2"/>
                </a:solidFill>
                <a:latin typeface="Aptos"/>
              </a:rPr>
              <a:t>Onboarding, interactive map, itinerary and stop views, with route controls.</a:t>
            </a:r>
          </a:p>
        </p:txBody>
      </p:sp>
      <p:sp>
        <p:nvSpPr>
          <p:cNvPr id="19" name="Rounded Rectangle 18"/>
          <p:cNvSpPr/>
          <p:nvPr/>
        </p:nvSpPr>
        <p:spPr>
          <a:xfrm>
            <a:off x="7333488" y="3392424"/>
            <a:ext cx="109728" cy="109728"/>
          </a:xfrm>
          <a:prstGeom prst="roundRect">
            <a:avLst>
              <a:gd name="adj" fmla="val 12000"/>
            </a:avLst>
          </a:prstGeom>
          <a:solidFill>
            <a:srgbClr val="58C4B2"/>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62088" y="3364992"/>
            <a:ext cx="1207008" cy="256032"/>
          </a:xfrm>
          <a:prstGeom prst="rect">
            <a:avLst/>
          </a:prstGeom>
          <a:noFill/>
        </p:spPr>
        <p:txBody>
          <a:bodyPr wrap="square" lIns="18288" rIns="18288" tIns="18288" bIns="18288" anchor="t">
            <a:spAutoFit/>
          </a:bodyPr>
          <a:lstStyle/>
          <a:p>
            <a:pPr algn="l"/>
            <a:r>
              <a:rPr sz="1300" b="1" i="0">
                <a:solidFill>
                  <a:srgbClr val="F6F4EF"/>
                </a:solidFill>
                <a:latin typeface="Aptos"/>
              </a:rPr>
              <a:t>Planner</a:t>
            </a:r>
          </a:p>
        </p:txBody>
      </p:sp>
      <p:sp>
        <p:nvSpPr>
          <p:cNvPr id="21" name="TextBox 20"/>
          <p:cNvSpPr txBox="1"/>
          <p:nvPr/>
        </p:nvSpPr>
        <p:spPr>
          <a:xfrm>
            <a:off x="8769096" y="3364992"/>
            <a:ext cx="2724911" cy="502920"/>
          </a:xfrm>
          <a:prstGeom prst="rect">
            <a:avLst/>
          </a:prstGeom>
          <a:noFill/>
        </p:spPr>
        <p:txBody>
          <a:bodyPr wrap="square" lIns="18288" rIns="18288" tIns="18288" bIns="18288" anchor="t">
            <a:spAutoFit/>
          </a:bodyPr>
          <a:lstStyle/>
          <a:p>
            <a:pPr algn="l"/>
            <a:r>
              <a:rPr sz="1300" b="0" i="0">
                <a:solidFill>
                  <a:srgbClr val="A8B1C2"/>
                </a:solidFill>
                <a:latin typeface="Aptos"/>
              </a:rPr>
              <a:t>Gemini structured-output backend with 12 source-linked place records.</a:t>
            </a:r>
          </a:p>
        </p:txBody>
      </p:sp>
      <p:sp>
        <p:nvSpPr>
          <p:cNvPr id="22" name="Rounded Rectangle 21"/>
          <p:cNvSpPr/>
          <p:nvPr/>
        </p:nvSpPr>
        <p:spPr>
          <a:xfrm>
            <a:off x="7333488" y="4215384"/>
            <a:ext cx="109728" cy="109728"/>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2088" y="4187952"/>
            <a:ext cx="1207008" cy="256032"/>
          </a:xfrm>
          <a:prstGeom prst="rect">
            <a:avLst/>
          </a:prstGeom>
          <a:noFill/>
        </p:spPr>
        <p:txBody>
          <a:bodyPr wrap="square" lIns="18288" rIns="18288" tIns="18288" bIns="18288" anchor="t">
            <a:spAutoFit/>
          </a:bodyPr>
          <a:lstStyle/>
          <a:p>
            <a:pPr algn="l"/>
            <a:r>
              <a:rPr sz="1300" b="1" i="0">
                <a:solidFill>
                  <a:srgbClr val="F6F4EF"/>
                </a:solidFill>
                <a:latin typeface="Aptos"/>
              </a:rPr>
              <a:t>Map</a:t>
            </a:r>
          </a:p>
        </p:txBody>
      </p:sp>
      <p:sp>
        <p:nvSpPr>
          <p:cNvPr id="24" name="TextBox 23"/>
          <p:cNvSpPr txBox="1"/>
          <p:nvPr/>
        </p:nvSpPr>
        <p:spPr>
          <a:xfrm>
            <a:off x="8769096" y="4187952"/>
            <a:ext cx="2724911" cy="502920"/>
          </a:xfrm>
          <a:prstGeom prst="rect">
            <a:avLst/>
          </a:prstGeom>
          <a:noFill/>
        </p:spPr>
        <p:txBody>
          <a:bodyPr wrap="square" lIns="18288" rIns="18288" tIns="18288" bIns="18288" anchor="t">
            <a:spAutoFit/>
          </a:bodyPr>
          <a:lstStyle/>
          <a:p>
            <a:pPr algn="l"/>
            <a:r>
              <a:rPr sz="1300" b="0" i="0">
                <a:solidFill>
                  <a:srgbClr val="A8B1C2"/>
                </a:solidFill>
                <a:latin typeface="Aptos"/>
              </a:rPr>
              <a:t>OpenFreeMap basemap and best-effort OSRM geometry. Straight connectors remain the fallback.</a:t>
            </a:r>
          </a:p>
        </p:txBody>
      </p:sp>
      <p:sp>
        <p:nvSpPr>
          <p:cNvPr id="25" name="Rounded Rectangle 24"/>
          <p:cNvSpPr/>
          <p:nvPr/>
        </p:nvSpPr>
        <p:spPr>
          <a:xfrm>
            <a:off x="7333488" y="5230368"/>
            <a:ext cx="4160520" cy="530352"/>
          </a:xfrm>
          <a:prstGeom prst="roundRect">
            <a:avLst>
              <a:gd name="adj" fmla="val 12000"/>
            </a:avLst>
          </a:prstGeom>
          <a:solidFill>
            <a:srgbClr val="2A1D1D"/>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52944" y="5376672"/>
            <a:ext cx="3703320" cy="228600"/>
          </a:xfrm>
          <a:prstGeom prst="rect">
            <a:avLst/>
          </a:prstGeom>
          <a:noFill/>
        </p:spPr>
        <p:txBody>
          <a:bodyPr wrap="square" lIns="18288" rIns="18288" tIns="18288" bIns="18288" anchor="t">
            <a:spAutoFit/>
          </a:bodyPr>
          <a:lstStyle/>
          <a:p>
            <a:pPr algn="l"/>
            <a:r>
              <a:rPr sz="919" b="1" i="0">
                <a:solidFill>
                  <a:srgbClr val="E16B6A"/>
                </a:solidFill>
                <a:latin typeface="Aptos"/>
              </a:rPr>
              <a:t>CURRENT SIMULATOR CAPTURE · DEBUG BUILD · APP-TO-PLANNER FLOW STILL NEEDS VERIFICATION</a:t>
            </a:r>
          </a:p>
        </p:txBody>
      </p:sp>
      <p:cxnSp>
        <p:nvCxnSpPr>
          <p:cNvPr id="27" name="Connector 26"/>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PRT691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10 · RESPONSIBLE AI</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largest risk is a fluent answer built on stale evidence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Controls are shown with their current status so planned safeguards are not mistaken for completed ones.</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11</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2084831"/>
            <a:ext cx="3154680" cy="201168"/>
          </a:xfrm>
          <a:prstGeom prst="rect">
            <a:avLst/>
          </a:prstGeom>
          <a:noFill/>
        </p:spPr>
        <p:txBody>
          <a:bodyPr wrap="square" lIns="18288" rIns="18288" tIns="18288" bIns="18288" anchor="t">
            <a:spAutoFit/>
          </a:bodyPr>
          <a:lstStyle/>
          <a:p>
            <a:pPr algn="l"/>
            <a:r>
              <a:rPr sz="1000" b="1" i="0">
                <a:solidFill>
                  <a:srgbClr val="F18F4E"/>
                </a:solidFill>
                <a:latin typeface="Aptos"/>
              </a:rPr>
              <a:t>RISK</a:t>
            </a:r>
          </a:p>
        </p:txBody>
      </p:sp>
      <p:sp>
        <p:nvSpPr>
          <p:cNvPr id="8" name="TextBox 7"/>
          <p:cNvSpPr txBox="1"/>
          <p:nvPr/>
        </p:nvSpPr>
        <p:spPr>
          <a:xfrm>
            <a:off x="4160520" y="2084831"/>
            <a:ext cx="7187184" cy="201168"/>
          </a:xfrm>
          <a:prstGeom prst="rect">
            <a:avLst/>
          </a:prstGeom>
          <a:noFill/>
        </p:spPr>
        <p:txBody>
          <a:bodyPr wrap="square" lIns="18288" rIns="18288" tIns="18288" bIns="18288" anchor="t">
            <a:spAutoFit/>
          </a:bodyPr>
          <a:lstStyle/>
          <a:p>
            <a:pPr algn="l"/>
            <a:r>
              <a:rPr sz="1000" b="1" i="0">
                <a:solidFill>
                  <a:srgbClr val="F18F4E"/>
                </a:solidFill>
                <a:latin typeface="Aptos"/>
              </a:rPr>
              <a:t>CURRENT RESPONSE / REMAINING CONTROL</a:t>
            </a:r>
          </a:p>
        </p:txBody>
      </p:sp>
      <p:sp>
        <p:nvSpPr>
          <p:cNvPr id="9" name="TextBox 8"/>
          <p:cNvSpPr txBox="1"/>
          <p:nvPr/>
        </p:nvSpPr>
        <p:spPr>
          <a:xfrm>
            <a:off x="10561320" y="2084831"/>
            <a:ext cx="914400" cy="201168"/>
          </a:xfrm>
          <a:prstGeom prst="rect">
            <a:avLst/>
          </a:prstGeom>
          <a:noFill/>
        </p:spPr>
        <p:txBody>
          <a:bodyPr wrap="square" lIns="18288" rIns="18288" tIns="18288" bIns="18288" anchor="t">
            <a:spAutoFit/>
          </a:bodyPr>
          <a:lstStyle/>
          <a:p>
            <a:pPr algn="l"/>
            <a:r>
              <a:rPr sz="1000" b="1" i="0">
                <a:solidFill>
                  <a:srgbClr val="F18F4E"/>
                </a:solidFill>
                <a:latin typeface="Aptos"/>
              </a:rPr>
              <a:t>STATUS</a:t>
            </a:r>
          </a:p>
        </p:txBody>
      </p:sp>
      <p:cxnSp>
        <p:nvCxnSpPr>
          <p:cNvPr id="10" name="Connector 9"/>
          <p:cNvCxnSpPr/>
          <p:nvPr/>
        </p:nvCxnSpPr>
        <p:spPr>
          <a:xfrm>
            <a:off x="749808" y="3099816"/>
            <a:ext cx="1068019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9808" y="2496312"/>
            <a:ext cx="3063240" cy="438912"/>
          </a:xfrm>
          <a:prstGeom prst="rect">
            <a:avLst/>
          </a:prstGeom>
          <a:noFill/>
        </p:spPr>
        <p:txBody>
          <a:bodyPr wrap="square" lIns="18288" rIns="18288" tIns="18288" bIns="18288" anchor="t">
            <a:spAutoFit/>
          </a:bodyPr>
          <a:lstStyle/>
          <a:p>
            <a:pPr algn="l"/>
            <a:r>
              <a:rPr sz="1300" b="1" i="0">
                <a:solidFill>
                  <a:srgbClr val="F6F4EF"/>
                </a:solidFill>
                <a:latin typeface="Aptos"/>
              </a:rPr>
              <a:t>Stale or incomplete road/access information</a:t>
            </a:r>
          </a:p>
        </p:txBody>
      </p:sp>
      <p:sp>
        <p:nvSpPr>
          <p:cNvPr id="12" name="TextBox 11"/>
          <p:cNvSpPr txBox="1"/>
          <p:nvPr/>
        </p:nvSpPr>
        <p:spPr>
          <a:xfrm>
            <a:off x="4160520" y="2496312"/>
            <a:ext cx="5943600" cy="438912"/>
          </a:xfrm>
          <a:prstGeom prst="rect">
            <a:avLst/>
          </a:prstGeom>
          <a:noFill/>
        </p:spPr>
        <p:txBody>
          <a:bodyPr wrap="square" lIns="18288" rIns="18288" tIns="18288" bIns="18288" anchor="t">
            <a:spAutoFit/>
          </a:bodyPr>
          <a:lstStyle/>
          <a:p>
            <a:pPr algn="l"/>
            <a:r>
              <a:rPr sz="1200" b="0" i="0">
                <a:solidFill>
                  <a:srgbClr val="EAF0F9"/>
                </a:solidFill>
                <a:latin typeface="Aptos"/>
              </a:rPr>
              <a:t>Point users to official live checks; no live road or closure feed yet.</a:t>
            </a:r>
          </a:p>
        </p:txBody>
      </p:sp>
      <p:sp>
        <p:nvSpPr>
          <p:cNvPr id="13" name="Rounded Rectangle 12"/>
          <p:cNvSpPr/>
          <p:nvPr/>
        </p:nvSpPr>
        <p:spPr>
          <a:xfrm>
            <a:off x="10561320" y="2514600"/>
            <a:ext cx="914400" cy="274320"/>
          </a:xfrm>
          <a:prstGeom prst="roundRect">
            <a:avLst>
              <a:gd name="adj" fmla="val 12000"/>
            </a:avLst>
          </a:prstGeom>
          <a:solidFill>
            <a:srgbClr val="111C2A"/>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61320" y="2587752"/>
            <a:ext cx="914400" cy="109728"/>
          </a:xfrm>
          <a:prstGeom prst="rect">
            <a:avLst/>
          </a:prstGeom>
          <a:noFill/>
        </p:spPr>
        <p:txBody>
          <a:bodyPr wrap="square" lIns="18288" rIns="18288" tIns="18288" bIns="18288" anchor="t">
            <a:spAutoFit/>
          </a:bodyPr>
          <a:lstStyle/>
          <a:p>
            <a:pPr algn="ctr"/>
            <a:r>
              <a:rPr sz="800" b="1" i="0">
                <a:solidFill>
                  <a:srgbClr val="F18F4E"/>
                </a:solidFill>
                <a:latin typeface="Aptos"/>
              </a:rPr>
              <a:t>PARTIAL</a:t>
            </a:r>
          </a:p>
        </p:txBody>
      </p:sp>
      <p:cxnSp>
        <p:nvCxnSpPr>
          <p:cNvPr id="15" name="Connector 14"/>
          <p:cNvCxnSpPr/>
          <p:nvPr/>
        </p:nvCxnSpPr>
        <p:spPr>
          <a:xfrm>
            <a:off x="749808" y="3813048"/>
            <a:ext cx="1068019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3209544"/>
            <a:ext cx="3063240" cy="438912"/>
          </a:xfrm>
          <a:prstGeom prst="rect">
            <a:avLst/>
          </a:prstGeom>
          <a:noFill/>
        </p:spPr>
        <p:txBody>
          <a:bodyPr wrap="square" lIns="18288" rIns="18288" tIns="18288" bIns="18288" anchor="t">
            <a:spAutoFit/>
          </a:bodyPr>
          <a:lstStyle/>
          <a:p>
            <a:pPr algn="l"/>
            <a:r>
              <a:rPr sz="1300" b="1" i="0">
                <a:solidFill>
                  <a:srgbClr val="F6F4EF"/>
                </a:solidFill>
                <a:latin typeface="Aptos"/>
              </a:rPr>
              <a:t>Incorrect permit or cultural-access claim</a:t>
            </a:r>
          </a:p>
        </p:txBody>
      </p:sp>
      <p:sp>
        <p:nvSpPr>
          <p:cNvPr id="17" name="TextBox 16"/>
          <p:cNvSpPr txBox="1"/>
          <p:nvPr/>
        </p:nvSpPr>
        <p:spPr>
          <a:xfrm>
            <a:off x="4160520" y="3209544"/>
            <a:ext cx="5943600" cy="438912"/>
          </a:xfrm>
          <a:prstGeom prst="rect">
            <a:avLst/>
          </a:prstGeom>
          <a:noFill/>
        </p:spPr>
        <p:txBody>
          <a:bodyPr wrap="square" lIns="18288" rIns="18288" tIns="18288" bIns="18288" anchor="t">
            <a:spAutoFit/>
          </a:bodyPr>
          <a:lstStyle/>
          <a:p>
            <a:pPr algn="l"/>
            <a:r>
              <a:rPr sz="1200" b="0" i="0">
                <a:solidFill>
                  <a:srgbClr val="EAF0F9"/>
                </a:solidFill>
                <a:latin typeface="Aptos"/>
              </a:rPr>
              <a:t>Do not infer permission. Rely on responsible authorities and show uncertainty.</a:t>
            </a:r>
          </a:p>
        </p:txBody>
      </p:sp>
      <p:sp>
        <p:nvSpPr>
          <p:cNvPr id="18" name="Rounded Rectangle 17"/>
          <p:cNvSpPr/>
          <p:nvPr/>
        </p:nvSpPr>
        <p:spPr>
          <a:xfrm>
            <a:off x="10561320" y="3227832"/>
            <a:ext cx="914400" cy="274320"/>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20" y="3300984"/>
            <a:ext cx="914400" cy="109728"/>
          </a:xfrm>
          <a:prstGeom prst="rect">
            <a:avLst/>
          </a:prstGeom>
          <a:noFill/>
        </p:spPr>
        <p:txBody>
          <a:bodyPr wrap="square" lIns="18288" rIns="18288" tIns="18288" bIns="18288" anchor="t">
            <a:spAutoFit/>
          </a:bodyPr>
          <a:lstStyle/>
          <a:p>
            <a:pPr algn="ctr"/>
            <a:r>
              <a:rPr sz="800" b="1" i="0">
                <a:solidFill>
                  <a:srgbClr val="58C4B2"/>
                </a:solidFill>
                <a:latin typeface="Aptos"/>
              </a:rPr>
              <a:t>IN PLACE</a:t>
            </a:r>
          </a:p>
        </p:txBody>
      </p:sp>
      <p:cxnSp>
        <p:nvCxnSpPr>
          <p:cNvPr id="20" name="Connector 19"/>
          <p:cNvCxnSpPr/>
          <p:nvPr/>
        </p:nvCxnSpPr>
        <p:spPr>
          <a:xfrm>
            <a:off x="749808" y="4526280"/>
            <a:ext cx="1068019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3922776"/>
            <a:ext cx="3063240" cy="438912"/>
          </a:xfrm>
          <a:prstGeom prst="rect">
            <a:avLst/>
          </a:prstGeom>
          <a:noFill/>
        </p:spPr>
        <p:txBody>
          <a:bodyPr wrap="square" lIns="18288" rIns="18288" tIns="18288" bIns="18288" anchor="t">
            <a:spAutoFit/>
          </a:bodyPr>
          <a:lstStyle/>
          <a:p>
            <a:pPr algn="l"/>
            <a:r>
              <a:rPr sz="1300" b="1" i="0">
                <a:solidFill>
                  <a:srgbClr val="F6F4EF"/>
                </a:solidFill>
                <a:latin typeface="Aptos"/>
              </a:rPr>
              <a:t>Fluent but unsafe recommendation</a:t>
            </a:r>
          </a:p>
        </p:txBody>
      </p:sp>
      <p:sp>
        <p:nvSpPr>
          <p:cNvPr id="22" name="TextBox 21"/>
          <p:cNvSpPr txBox="1"/>
          <p:nvPr/>
        </p:nvSpPr>
        <p:spPr>
          <a:xfrm>
            <a:off x="4160520" y="3922776"/>
            <a:ext cx="5943600" cy="438912"/>
          </a:xfrm>
          <a:prstGeom prst="rect">
            <a:avLst/>
          </a:prstGeom>
          <a:noFill/>
        </p:spPr>
        <p:txBody>
          <a:bodyPr wrap="square" lIns="18288" rIns="18288" tIns="18288" bIns="18288" anchor="t">
            <a:spAutoFit/>
          </a:bodyPr>
          <a:lstStyle/>
          <a:p>
            <a:pPr algn="l"/>
            <a:r>
              <a:rPr sz="1200" b="0" i="0">
                <a:solidFill>
                  <a:srgbClr val="EAF0F9"/>
                </a:solidFill>
                <a:latin typeface="Aptos"/>
              </a:rPr>
              <a:t>Deterministic hard checks remain a target requirement.</a:t>
            </a:r>
          </a:p>
        </p:txBody>
      </p:sp>
      <p:sp>
        <p:nvSpPr>
          <p:cNvPr id="23" name="Rounded Rectangle 22"/>
          <p:cNvSpPr/>
          <p:nvPr/>
        </p:nvSpPr>
        <p:spPr>
          <a:xfrm>
            <a:off x="10561320" y="3941063"/>
            <a:ext cx="914400" cy="274320"/>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4014215"/>
            <a:ext cx="914400" cy="109728"/>
          </a:xfrm>
          <a:prstGeom prst="rect">
            <a:avLst/>
          </a:prstGeom>
          <a:noFill/>
        </p:spPr>
        <p:txBody>
          <a:bodyPr wrap="square" lIns="18288" rIns="18288" tIns="18288" bIns="18288" anchor="t">
            <a:spAutoFit/>
          </a:bodyPr>
          <a:lstStyle/>
          <a:p>
            <a:pPr algn="ctr"/>
            <a:r>
              <a:rPr sz="800" b="1" i="0">
                <a:solidFill>
                  <a:srgbClr val="6874F4"/>
                </a:solidFill>
                <a:latin typeface="Aptos"/>
              </a:rPr>
              <a:t>PLANNED</a:t>
            </a:r>
          </a:p>
        </p:txBody>
      </p:sp>
      <p:cxnSp>
        <p:nvCxnSpPr>
          <p:cNvPr id="25" name="Connector 24"/>
          <p:cNvCxnSpPr/>
          <p:nvPr/>
        </p:nvCxnSpPr>
        <p:spPr>
          <a:xfrm>
            <a:off x="749808" y="5239512"/>
            <a:ext cx="1068019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9808" y="4636008"/>
            <a:ext cx="3063240" cy="438912"/>
          </a:xfrm>
          <a:prstGeom prst="rect">
            <a:avLst/>
          </a:prstGeom>
          <a:noFill/>
        </p:spPr>
        <p:txBody>
          <a:bodyPr wrap="square" lIns="18288" rIns="18288" tIns="18288" bIns="18288" anchor="t">
            <a:spAutoFit/>
          </a:bodyPr>
          <a:lstStyle/>
          <a:p>
            <a:pPr algn="l"/>
            <a:r>
              <a:rPr sz="1300" b="1" i="0">
                <a:solidFill>
                  <a:srgbClr val="F6F4EF"/>
                </a:solidFill>
                <a:latin typeface="Aptos"/>
              </a:rPr>
              <a:t>Privacy and account security</a:t>
            </a:r>
          </a:p>
        </p:txBody>
      </p:sp>
      <p:sp>
        <p:nvSpPr>
          <p:cNvPr id="27" name="TextBox 26"/>
          <p:cNvSpPr txBox="1"/>
          <p:nvPr/>
        </p:nvSpPr>
        <p:spPr>
          <a:xfrm>
            <a:off x="4160520" y="4636008"/>
            <a:ext cx="5943600" cy="438912"/>
          </a:xfrm>
          <a:prstGeom prst="rect">
            <a:avLst/>
          </a:prstGeom>
          <a:noFill/>
        </p:spPr>
        <p:txBody>
          <a:bodyPr wrap="square" lIns="18288" rIns="18288" tIns="18288" bIns="18288" anchor="t">
            <a:spAutoFit/>
          </a:bodyPr>
          <a:lstStyle/>
          <a:p>
            <a:pPr algn="l"/>
            <a:r>
              <a:rPr sz="1200" b="0" i="0">
                <a:solidFill>
                  <a:srgbClr val="EAF0F9"/>
                </a:solidFill>
                <a:latin typeface="Aptos"/>
              </a:rPr>
              <a:t>Keep planner authentication enabled; use de-identified research records.</a:t>
            </a:r>
          </a:p>
        </p:txBody>
      </p:sp>
      <p:sp>
        <p:nvSpPr>
          <p:cNvPr id="28" name="Rounded Rectangle 27"/>
          <p:cNvSpPr/>
          <p:nvPr/>
        </p:nvSpPr>
        <p:spPr>
          <a:xfrm>
            <a:off x="10561320" y="4654296"/>
            <a:ext cx="914400" cy="274320"/>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61320" y="4727448"/>
            <a:ext cx="914400" cy="109728"/>
          </a:xfrm>
          <a:prstGeom prst="rect">
            <a:avLst/>
          </a:prstGeom>
          <a:noFill/>
        </p:spPr>
        <p:txBody>
          <a:bodyPr wrap="square" lIns="18288" rIns="18288" tIns="18288" bIns="18288" anchor="t">
            <a:spAutoFit/>
          </a:bodyPr>
          <a:lstStyle/>
          <a:p>
            <a:pPr algn="ctr"/>
            <a:r>
              <a:rPr sz="800" b="1" i="0">
                <a:solidFill>
                  <a:srgbClr val="58C4B2"/>
                </a:solidFill>
                <a:latin typeface="Aptos"/>
              </a:rPr>
              <a:t>IN PLACE</a:t>
            </a:r>
          </a:p>
        </p:txBody>
      </p:sp>
      <p:sp>
        <p:nvSpPr>
          <p:cNvPr id="30" name="Rounded Rectangle 29"/>
          <p:cNvSpPr/>
          <p:nvPr/>
        </p:nvSpPr>
        <p:spPr>
          <a:xfrm>
            <a:off x="749808" y="5486400"/>
            <a:ext cx="3401568" cy="603504"/>
          </a:xfrm>
          <a:prstGeom prst="roundRect">
            <a:avLst>
              <a:gd name="adj" fmla="val 12000"/>
            </a:avLst>
          </a:prstGeom>
          <a:solidFill>
            <a:srgbClr val="111C2A"/>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596128"/>
            <a:ext cx="777240" cy="146304"/>
          </a:xfrm>
          <a:prstGeom prst="rect">
            <a:avLst/>
          </a:prstGeom>
          <a:noFill/>
        </p:spPr>
        <p:txBody>
          <a:bodyPr wrap="square" lIns="18288" rIns="18288" tIns="18288" bIns="18288" anchor="t">
            <a:spAutoFit/>
          </a:bodyPr>
          <a:lstStyle/>
          <a:p>
            <a:pPr algn="l"/>
            <a:r>
              <a:rPr sz="950" b="1" i="0">
                <a:solidFill>
                  <a:srgbClr val="E16B6A"/>
                </a:solidFill>
                <a:latin typeface="Aptos"/>
              </a:rPr>
              <a:t>ETHICS</a:t>
            </a:r>
          </a:p>
        </p:txBody>
      </p:sp>
      <p:sp>
        <p:nvSpPr>
          <p:cNvPr id="32" name="TextBox 31"/>
          <p:cNvSpPr txBox="1"/>
          <p:nvPr/>
        </p:nvSpPr>
        <p:spPr>
          <a:xfrm>
            <a:off x="1755648" y="5586984"/>
            <a:ext cx="2148840" cy="274320"/>
          </a:xfrm>
          <a:prstGeom prst="rect">
            <a:avLst/>
          </a:prstGeom>
          <a:noFill/>
        </p:spPr>
        <p:txBody>
          <a:bodyPr wrap="square" lIns="18288" rIns="18288" tIns="18288" bIns="18288" anchor="t">
            <a:spAutoFit/>
          </a:bodyPr>
          <a:lstStyle/>
          <a:p>
            <a:pPr algn="l"/>
            <a:r>
              <a:rPr sz="950" b="0" i="0">
                <a:solidFill>
                  <a:srgbClr val="EAF0F9"/>
                </a:solidFill>
                <a:latin typeface="Aptos"/>
              </a:rPr>
              <a:t>Authority, permits and cultural access stay visible.</a:t>
            </a:r>
          </a:p>
        </p:txBody>
      </p:sp>
      <p:sp>
        <p:nvSpPr>
          <p:cNvPr id="33" name="Rounded Rectangle 32"/>
          <p:cNvSpPr/>
          <p:nvPr/>
        </p:nvSpPr>
        <p:spPr>
          <a:xfrm>
            <a:off x="4370832" y="5486400"/>
            <a:ext cx="3401568" cy="603504"/>
          </a:xfrm>
          <a:prstGeom prst="roundRect">
            <a:avLst>
              <a:gd name="adj" fmla="val 12000"/>
            </a:avLst>
          </a:prstGeom>
          <a:solidFill>
            <a:srgbClr val="111C2A"/>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35424" y="5596128"/>
            <a:ext cx="731520" cy="146304"/>
          </a:xfrm>
          <a:prstGeom prst="rect">
            <a:avLst/>
          </a:prstGeom>
          <a:noFill/>
        </p:spPr>
        <p:txBody>
          <a:bodyPr wrap="square" lIns="18288" rIns="18288" tIns="18288" bIns="18288" anchor="t">
            <a:spAutoFit/>
          </a:bodyPr>
          <a:lstStyle/>
          <a:p>
            <a:pPr algn="l"/>
            <a:r>
              <a:rPr sz="950" b="1" i="0">
                <a:solidFill>
                  <a:srgbClr val="58C4B2"/>
                </a:solidFill>
                <a:latin typeface="Aptos"/>
              </a:rPr>
              <a:t>IMPACT</a:t>
            </a:r>
          </a:p>
        </p:txBody>
      </p:sp>
      <p:sp>
        <p:nvSpPr>
          <p:cNvPr id="35" name="TextBox 34"/>
          <p:cNvSpPr txBox="1"/>
          <p:nvPr/>
        </p:nvSpPr>
        <p:spPr>
          <a:xfrm>
            <a:off x="5321808" y="5586984"/>
            <a:ext cx="2240280" cy="274320"/>
          </a:xfrm>
          <a:prstGeom prst="rect">
            <a:avLst/>
          </a:prstGeom>
          <a:noFill/>
        </p:spPr>
        <p:txBody>
          <a:bodyPr wrap="square" lIns="18288" rIns="18288" tIns="18288" bIns="18288" anchor="t">
            <a:spAutoFit/>
          </a:bodyPr>
          <a:lstStyle/>
          <a:p>
            <a:pPr algn="l"/>
            <a:r>
              <a:rPr sz="950" b="0" i="0">
                <a:solidFill>
                  <a:srgbClr val="EAF0F9"/>
                </a:solidFill>
                <a:latin typeface="Aptos"/>
              </a:rPr>
              <a:t>More transparent planning and fewer repeated checks.</a:t>
            </a:r>
          </a:p>
        </p:txBody>
      </p:sp>
      <p:sp>
        <p:nvSpPr>
          <p:cNvPr id="36" name="Rounded Rectangle 35"/>
          <p:cNvSpPr/>
          <p:nvPr/>
        </p:nvSpPr>
        <p:spPr>
          <a:xfrm>
            <a:off x="7991856" y="5486400"/>
            <a:ext cx="3639312" cy="603504"/>
          </a:xfrm>
          <a:prstGeom prst="roundRect">
            <a:avLst>
              <a:gd name="adj" fmla="val 12000"/>
            </a:avLst>
          </a:prstGeom>
          <a:solidFill>
            <a:srgbClr val="111C2A"/>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56448" y="5596128"/>
            <a:ext cx="960120" cy="146304"/>
          </a:xfrm>
          <a:prstGeom prst="rect">
            <a:avLst/>
          </a:prstGeom>
          <a:noFill/>
        </p:spPr>
        <p:txBody>
          <a:bodyPr wrap="square" lIns="18288" rIns="18288" tIns="18288" bIns="18288" anchor="t">
            <a:spAutoFit/>
          </a:bodyPr>
          <a:lstStyle/>
          <a:p>
            <a:pPr algn="l"/>
            <a:r>
              <a:rPr sz="950" b="1" i="0">
                <a:solidFill>
                  <a:srgbClr val="6874F4"/>
                </a:solidFill>
                <a:latin typeface="Aptos"/>
              </a:rPr>
              <a:t>SCALABILITY</a:t>
            </a:r>
          </a:p>
        </p:txBody>
      </p:sp>
      <p:sp>
        <p:nvSpPr>
          <p:cNvPr id="38" name="TextBox 37"/>
          <p:cNvSpPr txBox="1"/>
          <p:nvPr/>
        </p:nvSpPr>
        <p:spPr>
          <a:xfrm>
            <a:off x="9162288" y="5586984"/>
            <a:ext cx="2212848" cy="274320"/>
          </a:xfrm>
          <a:prstGeom prst="rect">
            <a:avLst/>
          </a:prstGeom>
          <a:noFill/>
        </p:spPr>
        <p:txBody>
          <a:bodyPr wrap="square" lIns="18288" rIns="18288" tIns="18288" bIns="18288" anchor="t">
            <a:spAutoFit/>
          </a:bodyPr>
          <a:lstStyle/>
          <a:p>
            <a:pPr algn="l"/>
            <a:r>
              <a:rPr sz="950" b="0" i="0">
                <a:solidFill>
                  <a:srgbClr val="EAF0F9"/>
                </a:solidFill>
                <a:latin typeface="Aptos"/>
              </a:rPr>
              <a:t>Expand corridor by corridor after validation.</a:t>
            </a:r>
          </a:p>
        </p:txBody>
      </p:sp>
      <p:cxnSp>
        <p:nvCxnSpPr>
          <p:cNvPr id="39" name="Connector 38"/>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PRT691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11 · EVALUATION</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strongest result is narrow, and that is useful</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9/9 functional checks passed for the browser prototype and curated snapshot on 11 September 2026.</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12</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9808" y="2212848"/>
            <a:ext cx="2926080" cy="256032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670048"/>
            <a:ext cx="2423160" cy="685800"/>
          </a:xfrm>
          <a:prstGeom prst="rect">
            <a:avLst/>
          </a:prstGeom>
          <a:noFill/>
        </p:spPr>
        <p:txBody>
          <a:bodyPr wrap="square" lIns="18288" rIns="18288" tIns="18288" bIns="18288" anchor="t">
            <a:spAutoFit/>
          </a:bodyPr>
          <a:lstStyle/>
          <a:p>
            <a:pPr algn="ctr"/>
            <a:r>
              <a:rPr sz="4200" b="1" i="0">
                <a:solidFill>
                  <a:srgbClr val="58C4B2"/>
                </a:solidFill>
                <a:latin typeface="Aptos"/>
              </a:rPr>
              <a:t>9 / 9</a:t>
            </a:r>
          </a:p>
        </p:txBody>
      </p:sp>
      <p:sp>
        <p:nvSpPr>
          <p:cNvPr id="9" name="TextBox 8"/>
          <p:cNvSpPr txBox="1"/>
          <p:nvPr/>
        </p:nvSpPr>
        <p:spPr>
          <a:xfrm>
            <a:off x="1078992" y="3511296"/>
            <a:ext cx="2240280" cy="502920"/>
          </a:xfrm>
          <a:prstGeom prst="rect">
            <a:avLst/>
          </a:prstGeom>
          <a:noFill/>
        </p:spPr>
        <p:txBody>
          <a:bodyPr wrap="square" lIns="18288" rIns="18288" tIns="18288" bIns="18288" anchor="t">
            <a:spAutoFit/>
          </a:bodyPr>
          <a:lstStyle/>
          <a:p>
            <a:pPr algn="ctr"/>
            <a:r>
              <a:rPr sz="1500" b="1" i="0">
                <a:solidFill>
                  <a:srgbClr val="F6F4EF"/>
                </a:solidFill>
                <a:latin typeface="Aptos"/>
              </a:rPr>
              <a:t>predefined functional checks passed</a:t>
            </a:r>
          </a:p>
        </p:txBody>
      </p:sp>
      <p:sp>
        <p:nvSpPr>
          <p:cNvPr id="10" name="TextBox 9"/>
          <p:cNvSpPr txBox="1"/>
          <p:nvPr/>
        </p:nvSpPr>
        <p:spPr>
          <a:xfrm>
            <a:off x="1078992" y="4224528"/>
            <a:ext cx="2240280" cy="182880"/>
          </a:xfrm>
          <a:prstGeom prst="rect">
            <a:avLst/>
          </a:prstGeom>
          <a:noFill/>
        </p:spPr>
        <p:txBody>
          <a:bodyPr wrap="square" lIns="18288" rIns="18288" tIns="18288" bIns="18288" anchor="t">
            <a:spAutoFit/>
          </a:bodyPr>
          <a:lstStyle/>
          <a:p>
            <a:pPr algn="ctr"/>
            <a:r>
              <a:rPr sz="1000" b="0" i="0">
                <a:solidFill>
                  <a:srgbClr val="A8B1C2"/>
                </a:solidFill>
                <a:latin typeface="Aptos"/>
              </a:rPr>
              <a:t>Chromium · 390 × 844 viewport</a:t>
            </a:r>
          </a:p>
        </p:txBody>
      </p:sp>
      <p:sp>
        <p:nvSpPr>
          <p:cNvPr id="11" name="TextBox 10"/>
          <p:cNvSpPr txBox="1"/>
          <p:nvPr/>
        </p:nvSpPr>
        <p:spPr>
          <a:xfrm>
            <a:off x="4160520" y="2414016"/>
            <a:ext cx="1965960" cy="457200"/>
          </a:xfrm>
          <a:prstGeom prst="rect">
            <a:avLst/>
          </a:prstGeom>
          <a:noFill/>
        </p:spPr>
        <p:txBody>
          <a:bodyPr wrap="square" lIns="18288" rIns="18288" tIns="18288" bIns="18288" anchor="t">
            <a:spAutoFit/>
          </a:bodyPr>
          <a:lstStyle/>
          <a:p>
            <a:pPr algn="ctr"/>
            <a:r>
              <a:rPr sz="2800" b="1" i="0">
                <a:solidFill>
                  <a:srgbClr val="F18F4E"/>
                </a:solidFill>
                <a:latin typeface="Aptos"/>
              </a:rPr>
              <a:t>4/4</a:t>
            </a:r>
          </a:p>
        </p:txBody>
      </p:sp>
      <p:sp>
        <p:nvSpPr>
          <p:cNvPr id="12" name="TextBox 11"/>
          <p:cNvSpPr txBox="1"/>
          <p:nvPr/>
        </p:nvSpPr>
        <p:spPr>
          <a:xfrm>
            <a:off x="4160520" y="2980944"/>
            <a:ext cx="1965960" cy="502920"/>
          </a:xfrm>
          <a:prstGeom prst="rect">
            <a:avLst/>
          </a:prstGeom>
          <a:noFill/>
        </p:spPr>
        <p:txBody>
          <a:bodyPr wrap="square" lIns="18288" rIns="18288" tIns="18288" bIns="18288" anchor="t">
            <a:spAutoFit/>
          </a:bodyPr>
          <a:lstStyle/>
          <a:p>
            <a:pPr algn="ctr"/>
            <a:r>
              <a:rPr sz="1300" b="1" i="0">
                <a:solidFill>
                  <a:srgbClr val="F6F4EF"/>
                </a:solidFill>
                <a:latin typeface="Aptos"/>
              </a:rPr>
              <a:t>personalisation
+ scheduling</a:t>
            </a:r>
          </a:p>
        </p:txBody>
      </p:sp>
      <p:sp>
        <p:nvSpPr>
          <p:cNvPr id="13" name="Rounded Rectangle 12"/>
          <p:cNvSpPr/>
          <p:nvPr/>
        </p:nvSpPr>
        <p:spPr>
          <a:xfrm>
            <a:off x="4526280" y="3822191"/>
            <a:ext cx="1234440" cy="118872"/>
          </a:xfrm>
          <a:prstGeom prst="roundRect">
            <a:avLst>
              <a:gd name="adj" fmla="val 12000"/>
            </a:avLst>
          </a:prstGeom>
          <a:solidFill>
            <a:srgbClr val="F18F4E"/>
          </a:solidFill>
          <a:ln>
            <a:solidFill>
              <a:srgbClr val="F18F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14016"/>
            <a:ext cx="1965960" cy="457200"/>
          </a:xfrm>
          <a:prstGeom prst="rect">
            <a:avLst/>
          </a:prstGeom>
          <a:noFill/>
        </p:spPr>
        <p:txBody>
          <a:bodyPr wrap="square" lIns="18288" rIns="18288" tIns="18288" bIns="18288" anchor="t">
            <a:spAutoFit/>
          </a:bodyPr>
          <a:lstStyle/>
          <a:p>
            <a:pPr algn="ctr"/>
            <a:r>
              <a:rPr sz="2800" b="1" i="0">
                <a:solidFill>
                  <a:srgbClr val="58C4B2"/>
                </a:solidFill>
                <a:latin typeface="Aptos"/>
              </a:rPr>
              <a:t>2/2</a:t>
            </a:r>
          </a:p>
        </p:txBody>
      </p:sp>
      <p:sp>
        <p:nvSpPr>
          <p:cNvPr id="15" name="TextBox 14"/>
          <p:cNvSpPr txBox="1"/>
          <p:nvPr/>
        </p:nvSpPr>
        <p:spPr>
          <a:xfrm>
            <a:off x="6492240" y="2980944"/>
            <a:ext cx="1965960" cy="502920"/>
          </a:xfrm>
          <a:prstGeom prst="rect">
            <a:avLst/>
          </a:prstGeom>
          <a:noFill/>
        </p:spPr>
        <p:txBody>
          <a:bodyPr wrap="square" lIns="18288" rIns="18288" tIns="18288" bIns="18288" anchor="t">
            <a:spAutoFit/>
          </a:bodyPr>
          <a:lstStyle/>
          <a:p>
            <a:pPr algn="ctr"/>
            <a:r>
              <a:rPr sz="1300" b="1" i="0">
                <a:solidFill>
                  <a:srgbClr val="F6F4EF"/>
                </a:solidFill>
                <a:latin typeface="Aptos"/>
              </a:rPr>
              <a:t>safety / evidence
snapshot</a:t>
            </a:r>
          </a:p>
        </p:txBody>
      </p:sp>
      <p:sp>
        <p:nvSpPr>
          <p:cNvPr id="16" name="Rounded Rectangle 15"/>
          <p:cNvSpPr/>
          <p:nvPr/>
        </p:nvSpPr>
        <p:spPr>
          <a:xfrm>
            <a:off x="6858000" y="3822191"/>
            <a:ext cx="1234440" cy="118872"/>
          </a:xfrm>
          <a:prstGeom prst="roundRect">
            <a:avLst>
              <a:gd name="adj" fmla="val 12000"/>
            </a:avLst>
          </a:prstGeom>
          <a:solidFill>
            <a:srgbClr val="58C4B2"/>
          </a:solidFill>
          <a:ln>
            <a:solidFill>
              <a:srgbClr val="58C4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59" y="2414016"/>
            <a:ext cx="1965960" cy="457200"/>
          </a:xfrm>
          <a:prstGeom prst="rect">
            <a:avLst/>
          </a:prstGeom>
          <a:noFill/>
        </p:spPr>
        <p:txBody>
          <a:bodyPr wrap="square" lIns="18288" rIns="18288" tIns="18288" bIns="18288" anchor="t">
            <a:spAutoFit/>
          </a:bodyPr>
          <a:lstStyle/>
          <a:p>
            <a:pPr algn="ctr"/>
            <a:r>
              <a:rPr sz="2800" b="1" i="0">
                <a:solidFill>
                  <a:srgbClr val="6874F4"/>
                </a:solidFill>
                <a:latin typeface="Aptos"/>
              </a:rPr>
              <a:t>3/3</a:t>
            </a:r>
          </a:p>
        </p:txBody>
      </p:sp>
      <p:sp>
        <p:nvSpPr>
          <p:cNvPr id="18" name="TextBox 17"/>
          <p:cNvSpPr txBox="1"/>
          <p:nvPr/>
        </p:nvSpPr>
        <p:spPr>
          <a:xfrm>
            <a:off x="8823959" y="2980944"/>
            <a:ext cx="1965960" cy="502920"/>
          </a:xfrm>
          <a:prstGeom prst="rect">
            <a:avLst/>
          </a:prstGeom>
          <a:noFill/>
        </p:spPr>
        <p:txBody>
          <a:bodyPr wrap="square" lIns="18288" rIns="18288" tIns="18288" bIns="18288" anchor="t">
            <a:spAutoFit/>
          </a:bodyPr>
          <a:lstStyle/>
          <a:p>
            <a:pPr algn="ctr"/>
            <a:r>
              <a:rPr sz="1300" b="1" i="0">
                <a:solidFill>
                  <a:srgbClr val="F6F4EF"/>
                </a:solidFill>
                <a:latin typeface="Aptos"/>
              </a:rPr>
              <a:t>human control
+ interaction</a:t>
            </a:r>
          </a:p>
        </p:txBody>
      </p:sp>
      <p:sp>
        <p:nvSpPr>
          <p:cNvPr id="19" name="Rounded Rectangle 18"/>
          <p:cNvSpPr/>
          <p:nvPr/>
        </p:nvSpPr>
        <p:spPr>
          <a:xfrm>
            <a:off x="9189719" y="3822191"/>
            <a:ext cx="1234440" cy="118872"/>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33087" y="4572000"/>
            <a:ext cx="2743200" cy="201168"/>
          </a:xfrm>
          <a:prstGeom prst="rect">
            <a:avLst/>
          </a:prstGeom>
          <a:noFill/>
        </p:spPr>
        <p:txBody>
          <a:bodyPr wrap="square" lIns="18288" rIns="18288" tIns="18288" bIns="18288" anchor="t">
            <a:spAutoFit/>
          </a:bodyPr>
          <a:lstStyle/>
          <a:p>
            <a:pPr algn="l"/>
            <a:r>
              <a:rPr sz="1000" b="1" i="0">
                <a:solidFill>
                  <a:srgbClr val="F18F4E"/>
                </a:solidFill>
                <a:latin typeface="Aptos"/>
              </a:rPr>
              <a:t>WHAT THIS RESULT MEANS</a:t>
            </a:r>
          </a:p>
        </p:txBody>
      </p:sp>
      <p:sp>
        <p:nvSpPr>
          <p:cNvPr id="21" name="TextBox 20"/>
          <p:cNvSpPr txBox="1"/>
          <p:nvPr/>
        </p:nvSpPr>
        <p:spPr>
          <a:xfrm>
            <a:off x="4133087" y="4864608"/>
            <a:ext cx="3108960" cy="475488"/>
          </a:xfrm>
          <a:prstGeom prst="rect">
            <a:avLst/>
          </a:prstGeom>
          <a:noFill/>
        </p:spPr>
        <p:txBody>
          <a:bodyPr wrap="square" lIns="18288" rIns="18288" tIns="18288" bIns="18288" anchor="t">
            <a:spAutoFit/>
          </a:bodyPr>
          <a:lstStyle/>
          <a:p>
            <a:pPr algn="l"/>
            <a:r>
              <a:rPr sz="1400" b="0" i="0">
                <a:solidFill>
                  <a:srgbClr val="EAF0F9"/>
                </a:solidFill>
                <a:latin typeface="Aptos"/>
              </a:rPr>
              <a:t>Preliminary functional evidence for the browser prototype and curated snapshot.</a:t>
            </a:r>
          </a:p>
        </p:txBody>
      </p:sp>
      <p:sp>
        <p:nvSpPr>
          <p:cNvPr id="22" name="TextBox 21"/>
          <p:cNvSpPr txBox="1"/>
          <p:nvPr/>
        </p:nvSpPr>
        <p:spPr>
          <a:xfrm>
            <a:off x="7424927" y="4572000"/>
            <a:ext cx="2926080" cy="201168"/>
          </a:xfrm>
          <a:prstGeom prst="rect">
            <a:avLst/>
          </a:prstGeom>
          <a:noFill/>
        </p:spPr>
        <p:txBody>
          <a:bodyPr wrap="square" lIns="18288" rIns="18288" tIns="18288" bIns="18288" anchor="t">
            <a:spAutoFit/>
          </a:bodyPr>
          <a:lstStyle/>
          <a:p>
            <a:pPr algn="l"/>
            <a:r>
              <a:rPr sz="1000" b="1" i="0">
                <a:solidFill>
                  <a:srgbClr val="E16B6A"/>
                </a:solidFill>
                <a:latin typeface="Aptos"/>
              </a:rPr>
              <a:t>WHAT IT DOES NOT MEAN</a:t>
            </a:r>
          </a:p>
        </p:txBody>
      </p:sp>
      <p:sp>
        <p:nvSpPr>
          <p:cNvPr id="23" name="TextBox 22"/>
          <p:cNvSpPr txBox="1"/>
          <p:nvPr/>
        </p:nvSpPr>
        <p:spPr>
          <a:xfrm>
            <a:off x="7424927" y="4864608"/>
            <a:ext cx="3611880" cy="658368"/>
          </a:xfrm>
          <a:prstGeom prst="rect">
            <a:avLst/>
          </a:prstGeom>
          <a:noFill/>
        </p:spPr>
        <p:txBody>
          <a:bodyPr wrap="square" lIns="18288" rIns="18288" tIns="18288" bIns="18288" anchor="t">
            <a:spAutoFit/>
          </a:bodyPr>
          <a:lstStyle/>
          <a:p>
            <a:pPr algn="l"/>
            <a:r>
              <a:rPr sz="1400" b="0" i="0">
                <a:solidFill>
                  <a:srgbClr val="EAF0F9"/>
                </a:solidFill>
                <a:latin typeface="Aptos"/>
              </a:rPr>
              <a:t>It does not validate the Flutter app, Gemini/RAG retrieval accuracy, current NT conditions, field safety or real-user trust.</a:t>
            </a:r>
          </a:p>
        </p:txBody>
      </p:sp>
      <p:cxnSp>
        <p:nvCxnSpPr>
          <p:cNvPr id="24" name="Connector 23"/>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BROWSER PROTOTYPE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12 · LIVE DEMO</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The traveller reviews a route, then keeps control</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Demo target: 2:35 · Start signed in · Say whether the result is live Gemini, fixture or seeded content.</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13</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9808" y="2148840"/>
            <a:ext cx="438912" cy="438912"/>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67712"/>
            <a:ext cx="438912" cy="164592"/>
          </a:xfrm>
          <a:prstGeom prst="rect">
            <a:avLst/>
          </a:prstGeom>
          <a:noFill/>
        </p:spPr>
        <p:txBody>
          <a:bodyPr wrap="square" lIns="18288" rIns="18288" tIns="18288" bIns="18288" anchor="t">
            <a:spAutoFit/>
          </a:bodyPr>
          <a:lstStyle/>
          <a:p>
            <a:pPr algn="ctr"/>
            <a:r>
              <a:rPr sz="1000" b="1" i="0">
                <a:solidFill>
                  <a:srgbClr val="F6F4EF"/>
                </a:solidFill>
                <a:latin typeface="Aptos"/>
              </a:rPr>
              <a:t>01</a:t>
            </a:r>
          </a:p>
        </p:txBody>
      </p:sp>
      <p:sp>
        <p:nvSpPr>
          <p:cNvPr id="9" name="TextBox 8"/>
          <p:cNvSpPr txBox="1"/>
          <p:nvPr/>
        </p:nvSpPr>
        <p:spPr>
          <a:xfrm>
            <a:off x="1417320" y="2176272"/>
            <a:ext cx="2011680" cy="201168"/>
          </a:xfrm>
          <a:prstGeom prst="rect">
            <a:avLst/>
          </a:prstGeom>
          <a:noFill/>
        </p:spPr>
        <p:txBody>
          <a:bodyPr wrap="square" lIns="18288" rIns="18288" tIns="18288" bIns="18288" anchor="t">
            <a:spAutoFit/>
          </a:bodyPr>
          <a:lstStyle/>
          <a:p>
            <a:pPr algn="l"/>
            <a:r>
              <a:rPr sz="1500" b="1" i="0">
                <a:solidFill>
                  <a:srgbClr val="F6F4EF"/>
                </a:solidFill>
                <a:latin typeface="Aptos"/>
              </a:rPr>
              <a:t>Open or generate</a:t>
            </a:r>
          </a:p>
        </p:txBody>
      </p:sp>
      <p:sp>
        <p:nvSpPr>
          <p:cNvPr id="10" name="TextBox 9"/>
          <p:cNvSpPr txBox="1"/>
          <p:nvPr/>
        </p:nvSpPr>
        <p:spPr>
          <a:xfrm>
            <a:off x="3474720" y="2176272"/>
            <a:ext cx="3977639" cy="320040"/>
          </a:xfrm>
          <a:prstGeom prst="rect">
            <a:avLst/>
          </a:prstGeom>
          <a:noFill/>
        </p:spPr>
        <p:txBody>
          <a:bodyPr wrap="square" lIns="18288" rIns="18288" tIns="18288" bIns="18288" anchor="t">
            <a:spAutoFit/>
          </a:bodyPr>
          <a:lstStyle/>
          <a:p>
            <a:pPr algn="l"/>
            <a:r>
              <a:rPr sz="1300" b="0" i="0">
                <a:solidFill>
                  <a:srgbClr val="A8B1C2"/>
                </a:solidFill>
                <a:latin typeface="Aptos"/>
              </a:rPr>
              <a:t>Use the Darwin–Kakadu–Katherine / Top End corridor.</a:t>
            </a:r>
          </a:p>
        </p:txBody>
      </p:sp>
      <p:sp>
        <p:nvSpPr>
          <p:cNvPr id="11" name="Rounded Rectangle 10"/>
          <p:cNvSpPr/>
          <p:nvPr/>
        </p:nvSpPr>
        <p:spPr>
          <a:xfrm>
            <a:off x="749808" y="2907792"/>
            <a:ext cx="438912" cy="438912"/>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026664"/>
            <a:ext cx="438912" cy="164592"/>
          </a:xfrm>
          <a:prstGeom prst="rect">
            <a:avLst/>
          </a:prstGeom>
          <a:noFill/>
        </p:spPr>
        <p:txBody>
          <a:bodyPr wrap="square" lIns="18288" rIns="18288" tIns="18288" bIns="18288" anchor="t">
            <a:spAutoFit/>
          </a:bodyPr>
          <a:lstStyle/>
          <a:p>
            <a:pPr algn="ctr"/>
            <a:r>
              <a:rPr sz="1000" b="1" i="0">
                <a:solidFill>
                  <a:srgbClr val="F6F4EF"/>
                </a:solidFill>
                <a:latin typeface="Aptos"/>
              </a:rPr>
              <a:t>02</a:t>
            </a:r>
          </a:p>
        </p:txBody>
      </p:sp>
      <p:sp>
        <p:nvSpPr>
          <p:cNvPr id="13" name="TextBox 12"/>
          <p:cNvSpPr txBox="1"/>
          <p:nvPr/>
        </p:nvSpPr>
        <p:spPr>
          <a:xfrm>
            <a:off x="1417320" y="2935224"/>
            <a:ext cx="2011680" cy="201168"/>
          </a:xfrm>
          <a:prstGeom prst="rect">
            <a:avLst/>
          </a:prstGeom>
          <a:noFill/>
        </p:spPr>
        <p:txBody>
          <a:bodyPr wrap="square" lIns="18288" rIns="18288" tIns="18288" bIns="18288" anchor="t">
            <a:spAutoFit/>
          </a:bodyPr>
          <a:lstStyle/>
          <a:p>
            <a:pPr algn="l"/>
            <a:r>
              <a:rPr sz="1500" b="1" i="0">
                <a:solidFill>
                  <a:srgbClr val="F6F4EF"/>
                </a:solidFill>
                <a:latin typeface="Aptos"/>
              </a:rPr>
              <a:t>Inspect the route</a:t>
            </a:r>
          </a:p>
        </p:txBody>
      </p:sp>
      <p:sp>
        <p:nvSpPr>
          <p:cNvPr id="14" name="TextBox 13"/>
          <p:cNvSpPr txBox="1"/>
          <p:nvPr/>
        </p:nvSpPr>
        <p:spPr>
          <a:xfrm>
            <a:off x="3474720" y="2935224"/>
            <a:ext cx="3977639" cy="320040"/>
          </a:xfrm>
          <a:prstGeom prst="rect">
            <a:avLst/>
          </a:prstGeom>
          <a:noFill/>
        </p:spPr>
        <p:txBody>
          <a:bodyPr wrap="square" lIns="18288" rIns="18288" tIns="18288" bIns="18288" anchor="t">
            <a:spAutoFit/>
          </a:bodyPr>
          <a:lstStyle/>
          <a:p>
            <a:pPr algn="l"/>
            <a:r>
              <a:rPr sz="1300" b="0" i="0">
                <a:solidFill>
                  <a:srgbClr val="A8B1C2"/>
                </a:solidFill>
                <a:latin typeface="Aptos"/>
              </a:rPr>
              <a:t>Show stop order and route geometry. Explain the fallback.</a:t>
            </a:r>
          </a:p>
        </p:txBody>
      </p:sp>
      <p:sp>
        <p:nvSpPr>
          <p:cNvPr id="15" name="Rounded Rectangle 14"/>
          <p:cNvSpPr/>
          <p:nvPr/>
        </p:nvSpPr>
        <p:spPr>
          <a:xfrm>
            <a:off x="749808" y="3666744"/>
            <a:ext cx="438912" cy="438912"/>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785615"/>
            <a:ext cx="438912" cy="164592"/>
          </a:xfrm>
          <a:prstGeom prst="rect">
            <a:avLst/>
          </a:prstGeom>
          <a:noFill/>
        </p:spPr>
        <p:txBody>
          <a:bodyPr wrap="square" lIns="18288" rIns="18288" tIns="18288" bIns="18288" anchor="t">
            <a:spAutoFit/>
          </a:bodyPr>
          <a:lstStyle/>
          <a:p>
            <a:pPr algn="ctr"/>
            <a:r>
              <a:rPr sz="1000" b="1" i="0">
                <a:solidFill>
                  <a:srgbClr val="F6F4EF"/>
                </a:solidFill>
                <a:latin typeface="Aptos"/>
              </a:rPr>
              <a:t>03</a:t>
            </a:r>
          </a:p>
        </p:txBody>
      </p:sp>
      <p:sp>
        <p:nvSpPr>
          <p:cNvPr id="17" name="TextBox 16"/>
          <p:cNvSpPr txBox="1"/>
          <p:nvPr/>
        </p:nvSpPr>
        <p:spPr>
          <a:xfrm>
            <a:off x="1417320" y="3694176"/>
            <a:ext cx="2011680" cy="201168"/>
          </a:xfrm>
          <a:prstGeom prst="rect">
            <a:avLst/>
          </a:prstGeom>
          <a:noFill/>
        </p:spPr>
        <p:txBody>
          <a:bodyPr wrap="square" lIns="18288" rIns="18288" tIns="18288" bIns="18288" anchor="t">
            <a:spAutoFit/>
          </a:bodyPr>
          <a:lstStyle/>
          <a:p>
            <a:pPr algn="l"/>
            <a:r>
              <a:rPr sz="1500" b="1" i="0">
                <a:solidFill>
                  <a:srgbClr val="F6F4EF"/>
                </a:solidFill>
                <a:latin typeface="Aptos"/>
              </a:rPr>
              <a:t>Edit the plan</a:t>
            </a:r>
          </a:p>
        </p:txBody>
      </p:sp>
      <p:sp>
        <p:nvSpPr>
          <p:cNvPr id="18" name="TextBox 17"/>
          <p:cNvSpPr txBox="1"/>
          <p:nvPr/>
        </p:nvSpPr>
        <p:spPr>
          <a:xfrm>
            <a:off x="3474720" y="3694176"/>
            <a:ext cx="3977639" cy="320040"/>
          </a:xfrm>
          <a:prstGeom prst="rect">
            <a:avLst/>
          </a:prstGeom>
          <a:noFill/>
        </p:spPr>
        <p:txBody>
          <a:bodyPr wrap="square" lIns="18288" rIns="18288" tIns="18288" bIns="18288" anchor="t">
            <a:spAutoFit/>
          </a:bodyPr>
          <a:lstStyle/>
          <a:p>
            <a:pPr algn="l"/>
            <a:r>
              <a:rPr sz="1300" b="0" i="0">
                <a:solidFill>
                  <a:srgbClr val="A8B1C2"/>
                </a:solidFill>
                <a:latin typeface="Aptos"/>
              </a:rPr>
              <a:t>Open a stop, then reorder or remove/restore it.</a:t>
            </a:r>
          </a:p>
        </p:txBody>
      </p:sp>
      <p:sp>
        <p:nvSpPr>
          <p:cNvPr id="19" name="Rounded Rectangle 18"/>
          <p:cNvSpPr/>
          <p:nvPr/>
        </p:nvSpPr>
        <p:spPr>
          <a:xfrm>
            <a:off x="749808" y="4425696"/>
            <a:ext cx="438912" cy="438912"/>
          </a:xfrm>
          <a:prstGeom prst="roundRect">
            <a:avLst>
              <a:gd name="adj" fmla="val 12000"/>
            </a:avLst>
          </a:prstGeom>
          <a:solidFill>
            <a:srgbClr val="6874F4"/>
          </a:solidFill>
          <a:ln>
            <a:solidFill>
              <a:srgbClr val="687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544568"/>
            <a:ext cx="438912" cy="164592"/>
          </a:xfrm>
          <a:prstGeom prst="rect">
            <a:avLst/>
          </a:prstGeom>
          <a:noFill/>
        </p:spPr>
        <p:txBody>
          <a:bodyPr wrap="square" lIns="18288" rIns="18288" tIns="18288" bIns="18288" anchor="t">
            <a:spAutoFit/>
          </a:bodyPr>
          <a:lstStyle/>
          <a:p>
            <a:pPr algn="ctr"/>
            <a:r>
              <a:rPr sz="1000" b="1" i="0">
                <a:solidFill>
                  <a:srgbClr val="F6F4EF"/>
                </a:solidFill>
                <a:latin typeface="Aptos"/>
              </a:rPr>
              <a:t>04</a:t>
            </a:r>
          </a:p>
        </p:txBody>
      </p:sp>
      <p:sp>
        <p:nvSpPr>
          <p:cNvPr id="21" name="TextBox 20"/>
          <p:cNvSpPr txBox="1"/>
          <p:nvPr/>
        </p:nvSpPr>
        <p:spPr>
          <a:xfrm>
            <a:off x="1417320" y="4453128"/>
            <a:ext cx="2011680" cy="201168"/>
          </a:xfrm>
          <a:prstGeom prst="rect">
            <a:avLst/>
          </a:prstGeom>
          <a:noFill/>
        </p:spPr>
        <p:txBody>
          <a:bodyPr wrap="square" lIns="18288" rIns="18288" tIns="18288" bIns="18288" anchor="t">
            <a:spAutoFit/>
          </a:bodyPr>
          <a:lstStyle/>
          <a:p>
            <a:pPr algn="l"/>
            <a:r>
              <a:rPr sz="1500" b="1" i="0">
                <a:solidFill>
                  <a:srgbClr val="F6F4EF"/>
                </a:solidFill>
                <a:latin typeface="Aptos"/>
              </a:rPr>
              <a:t>Close responsibly</a:t>
            </a:r>
          </a:p>
        </p:txBody>
      </p:sp>
      <p:sp>
        <p:nvSpPr>
          <p:cNvPr id="22" name="TextBox 21"/>
          <p:cNvSpPr txBox="1"/>
          <p:nvPr/>
        </p:nvSpPr>
        <p:spPr>
          <a:xfrm>
            <a:off x="3474720" y="4453128"/>
            <a:ext cx="3977639" cy="320040"/>
          </a:xfrm>
          <a:prstGeom prst="rect">
            <a:avLst/>
          </a:prstGeom>
          <a:noFill/>
        </p:spPr>
        <p:txBody>
          <a:bodyPr wrap="square" lIns="18288" rIns="18288" tIns="18288" bIns="18288" anchor="t">
            <a:spAutoFit/>
          </a:bodyPr>
          <a:lstStyle/>
          <a:p>
            <a:pPr algn="l"/>
            <a:r>
              <a:rPr sz="1300" b="0" i="0">
                <a:solidFill>
                  <a:srgbClr val="A8B1C2"/>
                </a:solidFill>
                <a:latin typeface="Aptos"/>
              </a:rPr>
              <a:t>Remind the audience to check official live conditions.</a:t>
            </a:r>
          </a:p>
        </p:txBody>
      </p:sp>
      <p:sp>
        <p:nvSpPr>
          <p:cNvPr id="23" name="Rounded Rectangle 22"/>
          <p:cNvSpPr/>
          <p:nvPr/>
        </p:nvSpPr>
        <p:spPr>
          <a:xfrm>
            <a:off x="7818120" y="2139696"/>
            <a:ext cx="3520440" cy="3035808"/>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66-detail.png"/>
          <p:cNvPicPr>
            <a:picLocks noChangeAspect="1"/>
          </p:cNvPicPr>
          <p:nvPr/>
        </p:nvPicPr>
        <p:blipFill>
          <a:blip r:embed="rId2"/>
          <a:stretch>
            <a:fillRect/>
          </a:stretch>
        </p:blipFill>
        <p:spPr>
          <a:xfrm>
            <a:off x="8019288" y="2331720"/>
            <a:ext cx="3127248" cy="2011680"/>
          </a:xfrm>
          <a:prstGeom prst="rect">
            <a:avLst/>
          </a:prstGeom>
        </p:spPr>
      </p:pic>
      <p:sp>
        <p:nvSpPr>
          <p:cNvPr id="25" name="TextBox 24"/>
          <p:cNvSpPr txBox="1"/>
          <p:nvPr/>
        </p:nvSpPr>
        <p:spPr>
          <a:xfrm>
            <a:off x="8028431" y="4517136"/>
            <a:ext cx="3063240" cy="438912"/>
          </a:xfrm>
          <a:prstGeom prst="rect">
            <a:avLst/>
          </a:prstGeom>
          <a:noFill/>
        </p:spPr>
        <p:txBody>
          <a:bodyPr wrap="square" lIns="18288" rIns="18288" tIns="18288" bIns="18288" anchor="t">
            <a:spAutoFit/>
          </a:bodyPr>
          <a:lstStyle/>
          <a:p>
            <a:pPr algn="l"/>
            <a:r>
              <a:rPr sz="1200" b="0" i="0">
                <a:solidFill>
                  <a:srgbClr val="EAF0F9"/>
                </a:solidFill>
                <a:latin typeface="Aptos"/>
              </a:rPr>
              <a:t>Use the current stop-detail capture as visual support if the network or login blocks the live path.</a:t>
            </a:r>
          </a:p>
        </p:txBody>
      </p:sp>
      <p:sp>
        <p:nvSpPr>
          <p:cNvPr id="26" name="Rounded Rectangle 25"/>
          <p:cNvSpPr/>
          <p:nvPr/>
        </p:nvSpPr>
        <p:spPr>
          <a:xfrm>
            <a:off x="749808" y="5513832"/>
            <a:ext cx="10607040" cy="512064"/>
          </a:xfrm>
          <a:prstGeom prst="roundRect">
            <a:avLst>
              <a:gd name="adj" fmla="val 12000"/>
            </a:avLst>
          </a:prstGeom>
          <a:solidFill>
            <a:srgbClr val="2A1D1D"/>
          </a:solidFill>
          <a:ln>
            <a:solidFill>
              <a:srgbClr val="E16B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660136"/>
            <a:ext cx="10104120" cy="182880"/>
          </a:xfrm>
          <a:prstGeom prst="rect">
            <a:avLst/>
          </a:prstGeom>
          <a:noFill/>
        </p:spPr>
        <p:txBody>
          <a:bodyPr wrap="square" lIns="18288" rIns="18288" tIns="18288" bIns="18288" anchor="t">
            <a:spAutoFit/>
          </a:bodyPr>
          <a:lstStyle/>
          <a:p>
            <a:pPr algn="ctr"/>
            <a:r>
              <a:rPr sz="1100" b="1" i="0">
                <a:solidFill>
                  <a:srgbClr val="F6F4EF"/>
                </a:solidFill>
                <a:latin typeface="Aptos"/>
              </a:rPr>
              <a:t>Fallback: show the prepared local itinerary and name the unavailable step. Never call cached or seeded output a live AI generation.</a:t>
            </a:r>
          </a:p>
        </p:txBody>
      </p:sp>
      <p:cxnSp>
        <p:nvCxnSpPr>
          <p:cNvPr id="28" name="Connector 27"/>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DEMO SCRIPT BUILT INTO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94360" y="365760"/>
            <a:ext cx="5029200" cy="256032"/>
          </a:xfrm>
          <a:prstGeom prst="rect">
            <a:avLst/>
          </a:prstGeom>
          <a:noFill/>
        </p:spPr>
        <p:txBody>
          <a:bodyPr wrap="square" lIns="18288" rIns="18288" tIns="18288" bIns="18288" anchor="t">
            <a:spAutoFit/>
          </a:bodyPr>
          <a:lstStyle/>
          <a:p>
            <a:pPr algn="l"/>
            <a:r>
              <a:rPr sz="1000" b="1" i="0">
                <a:solidFill>
                  <a:srgbClr val="F18F4E"/>
                </a:solidFill>
                <a:latin typeface="Aptos"/>
              </a:rPr>
              <a:t>13 · NEXT MILESTONE</a:t>
            </a:r>
          </a:p>
        </p:txBody>
      </p:sp>
      <p:sp>
        <p:nvSpPr>
          <p:cNvPr id="3" name="TextBox 2"/>
          <p:cNvSpPr txBox="1"/>
          <p:nvPr/>
        </p:nvSpPr>
        <p:spPr>
          <a:xfrm>
            <a:off x="594360" y="713232"/>
            <a:ext cx="10881360" cy="594360"/>
          </a:xfrm>
          <a:prstGeom prst="rect">
            <a:avLst/>
          </a:prstGeom>
          <a:noFill/>
        </p:spPr>
        <p:txBody>
          <a:bodyPr wrap="square" lIns="18288" rIns="18288" tIns="18288" bIns="18288" anchor="t">
            <a:spAutoFit/>
          </a:bodyPr>
          <a:lstStyle/>
          <a:p>
            <a:pPr algn="l"/>
            <a:r>
              <a:rPr sz="2800" b="1" i="0">
                <a:solidFill>
                  <a:srgbClr val="F6F4EF"/>
                </a:solidFill>
                <a:latin typeface="Aptos"/>
              </a:rPr>
              <a:t>Traceable recommendations are the next milestone</a:t>
            </a:r>
          </a:p>
        </p:txBody>
      </p:sp>
      <p:sp>
        <p:nvSpPr>
          <p:cNvPr id="4" name="TextBox 3"/>
          <p:cNvSpPr txBox="1"/>
          <p:nvPr/>
        </p:nvSpPr>
        <p:spPr>
          <a:xfrm>
            <a:off x="612648" y="1353312"/>
            <a:ext cx="10332720" cy="347472"/>
          </a:xfrm>
          <a:prstGeom prst="rect">
            <a:avLst/>
          </a:prstGeom>
          <a:noFill/>
        </p:spPr>
        <p:txBody>
          <a:bodyPr wrap="square" lIns="18288" rIns="18288" tIns="18288" bIns="18288" anchor="t">
            <a:spAutoFit/>
          </a:bodyPr>
          <a:lstStyle/>
          <a:p>
            <a:pPr algn="l"/>
            <a:r>
              <a:rPr sz="1300" b="0" i="0">
                <a:solidFill>
                  <a:srgbClr val="A8B1C2"/>
                </a:solidFill>
                <a:latin typeface="Aptos"/>
              </a:rPr>
              <a:t>The workflow is together. The evidence model and live validation still need to catch up.</a:t>
            </a:r>
          </a:p>
        </p:txBody>
      </p:sp>
      <p:sp>
        <p:nvSpPr>
          <p:cNvPr id="5" name="TextBox 4"/>
          <p:cNvSpPr txBox="1"/>
          <p:nvPr/>
        </p:nvSpPr>
        <p:spPr>
          <a:xfrm>
            <a:off x="11082528" y="393192"/>
            <a:ext cx="457200" cy="228600"/>
          </a:xfrm>
          <a:prstGeom prst="rect">
            <a:avLst/>
          </a:prstGeom>
          <a:noFill/>
        </p:spPr>
        <p:txBody>
          <a:bodyPr wrap="square" lIns="18288" rIns="18288" tIns="18288" bIns="18288" anchor="t">
            <a:spAutoFit/>
          </a:bodyPr>
          <a:lstStyle/>
          <a:p>
            <a:pPr algn="r"/>
            <a:r>
              <a:rPr sz="1000" b="1" i="0">
                <a:solidFill>
                  <a:srgbClr val="A8B1C2"/>
                </a:solidFill>
                <a:latin typeface="Aptos"/>
              </a:rPr>
              <a:t>14</a:t>
            </a:r>
          </a:p>
        </p:txBody>
      </p:sp>
      <p:cxnSp>
        <p:nvCxnSpPr>
          <p:cNvPr id="6" name="Connector 5"/>
          <p:cNvCxnSpPr/>
          <p:nvPr/>
        </p:nvCxnSpPr>
        <p:spPr>
          <a:xfrm>
            <a:off x="594360" y="1755648"/>
            <a:ext cx="11000232" cy="0"/>
          </a:xfrm>
          <a:prstGeom prst="line">
            <a:avLst/>
          </a:prstGeom>
          <a:ln w="10160">
            <a:solidFill>
              <a:srgbClr val="27334A"/>
            </a:solidFill>
          </a:ln>
        </p:spPr>
        <p:style>
          <a:lnRef idx="2">
            <a:schemeClr val="accent1"/>
          </a:lnRef>
          <a:fillRef idx="0">
            <a:schemeClr val="accent1"/>
          </a:fillRef>
          <a:effectRef idx="1">
            <a:schemeClr val="accent1"/>
          </a:effectRef>
          <a:fontRef idx="minor">
            <a:schemeClr val="tx1"/>
          </a:fontRef>
        </p:style>
      </p:cxnSp>
      <p:pic>
        <p:nvPicPr>
          <p:cNvPr id="7" name="Picture 6" descr="full_nt.jpg"/>
          <p:cNvPicPr>
            <a:picLocks noChangeAspect="1"/>
          </p:cNvPicPr>
          <p:nvPr/>
        </p:nvPicPr>
        <p:blipFill>
          <a:blip r:embed="rId2"/>
          <a:stretch>
            <a:fillRect/>
          </a:stretch>
        </p:blipFill>
        <p:spPr>
          <a:xfrm>
            <a:off x="6995160" y="1938528"/>
            <a:ext cx="4572000" cy="3977639"/>
          </a:xfrm>
          <a:prstGeom prst="rect">
            <a:avLst/>
          </a:prstGeom>
        </p:spPr>
      </p:pic>
      <p:sp>
        <p:nvSpPr>
          <p:cNvPr id="8" name="Rounded Rectangle 7"/>
          <p:cNvSpPr/>
          <p:nvPr/>
        </p:nvSpPr>
        <p:spPr>
          <a:xfrm>
            <a:off x="658368" y="2057400"/>
            <a:ext cx="5715000" cy="3474720"/>
          </a:xfrm>
          <a:prstGeom prst="roundRect">
            <a:avLst>
              <a:gd name="adj" fmla="val 12000"/>
            </a:avLst>
          </a:prstGeom>
          <a:solidFill>
            <a:srgbClr val="111C2A"/>
          </a:solidFill>
          <a:ln>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359152"/>
            <a:ext cx="384048" cy="182880"/>
          </a:xfrm>
          <a:prstGeom prst="rect">
            <a:avLst/>
          </a:prstGeom>
          <a:noFill/>
        </p:spPr>
        <p:txBody>
          <a:bodyPr wrap="square" lIns="18288" rIns="18288" tIns="18288" bIns="18288" anchor="t">
            <a:spAutoFit/>
          </a:bodyPr>
          <a:lstStyle/>
          <a:p>
            <a:pPr algn="l"/>
            <a:r>
              <a:rPr sz="1200" b="1" i="0">
                <a:solidFill>
                  <a:srgbClr val="F18F4E"/>
                </a:solidFill>
                <a:latin typeface="Aptos"/>
              </a:rPr>
              <a:t>01</a:t>
            </a:r>
          </a:p>
        </p:txBody>
      </p:sp>
      <p:sp>
        <p:nvSpPr>
          <p:cNvPr id="10" name="TextBox 9"/>
          <p:cNvSpPr txBox="1"/>
          <p:nvPr/>
        </p:nvSpPr>
        <p:spPr>
          <a:xfrm>
            <a:off x="1508760" y="2359152"/>
            <a:ext cx="4370832" cy="384048"/>
          </a:xfrm>
          <a:prstGeom prst="rect">
            <a:avLst/>
          </a:prstGeom>
          <a:noFill/>
        </p:spPr>
        <p:txBody>
          <a:bodyPr wrap="square" lIns="18288" rIns="18288" tIns="18288" bIns="18288" anchor="t">
            <a:spAutoFit/>
          </a:bodyPr>
          <a:lstStyle/>
          <a:p>
            <a:pPr algn="l"/>
            <a:r>
              <a:rPr sz="1400" b="1" i="0">
                <a:solidFill>
                  <a:srgbClr val="EAF0F9"/>
                </a:solidFill>
                <a:latin typeface="Aptos"/>
              </a:rPr>
              <a:t>Verify the authenticated app-to-Gemini flow on a connected iPhone.</a:t>
            </a:r>
          </a:p>
        </p:txBody>
      </p:sp>
      <p:sp>
        <p:nvSpPr>
          <p:cNvPr id="11" name="TextBox 10"/>
          <p:cNvSpPr txBox="1"/>
          <p:nvPr/>
        </p:nvSpPr>
        <p:spPr>
          <a:xfrm>
            <a:off x="941832" y="3044952"/>
            <a:ext cx="384048" cy="182880"/>
          </a:xfrm>
          <a:prstGeom prst="rect">
            <a:avLst/>
          </a:prstGeom>
          <a:noFill/>
        </p:spPr>
        <p:txBody>
          <a:bodyPr wrap="square" lIns="18288" rIns="18288" tIns="18288" bIns="18288" anchor="t">
            <a:spAutoFit/>
          </a:bodyPr>
          <a:lstStyle/>
          <a:p>
            <a:pPr algn="l"/>
            <a:r>
              <a:rPr sz="1200" b="1" i="0">
                <a:solidFill>
                  <a:srgbClr val="F18F4E"/>
                </a:solidFill>
                <a:latin typeface="Aptos"/>
              </a:rPr>
              <a:t>02</a:t>
            </a:r>
          </a:p>
        </p:txBody>
      </p:sp>
      <p:sp>
        <p:nvSpPr>
          <p:cNvPr id="12" name="TextBox 11"/>
          <p:cNvSpPr txBox="1"/>
          <p:nvPr/>
        </p:nvSpPr>
        <p:spPr>
          <a:xfrm>
            <a:off x="1508760" y="3044952"/>
            <a:ext cx="4370832" cy="384048"/>
          </a:xfrm>
          <a:prstGeom prst="rect">
            <a:avLst/>
          </a:prstGeom>
          <a:noFill/>
        </p:spPr>
        <p:txBody>
          <a:bodyPr wrap="square" lIns="18288" rIns="18288" tIns="18288" bIns="18288" anchor="t">
            <a:spAutoFit/>
          </a:bodyPr>
          <a:lstStyle/>
          <a:p>
            <a:pPr algn="l"/>
            <a:r>
              <a:rPr sz="1400" b="1" i="0">
                <a:solidFill>
                  <a:srgbClr val="EAF0F9"/>
                </a:solidFill>
                <a:latin typeface="Aptos"/>
              </a:rPr>
              <a:t>Retain source authority and freshness with each itinerary fact.</a:t>
            </a:r>
          </a:p>
        </p:txBody>
      </p:sp>
      <p:sp>
        <p:nvSpPr>
          <p:cNvPr id="13" name="TextBox 12"/>
          <p:cNvSpPr txBox="1"/>
          <p:nvPr/>
        </p:nvSpPr>
        <p:spPr>
          <a:xfrm>
            <a:off x="941832" y="3730752"/>
            <a:ext cx="384048" cy="182880"/>
          </a:xfrm>
          <a:prstGeom prst="rect">
            <a:avLst/>
          </a:prstGeom>
          <a:noFill/>
        </p:spPr>
        <p:txBody>
          <a:bodyPr wrap="square" lIns="18288" rIns="18288" tIns="18288" bIns="18288" anchor="t">
            <a:spAutoFit/>
          </a:bodyPr>
          <a:lstStyle/>
          <a:p>
            <a:pPr algn="l"/>
            <a:r>
              <a:rPr sz="1200" b="1" i="0">
                <a:solidFill>
                  <a:srgbClr val="F18F4E"/>
                </a:solidFill>
                <a:latin typeface="Aptos"/>
              </a:rPr>
              <a:t>03</a:t>
            </a:r>
          </a:p>
        </p:txBody>
      </p:sp>
      <p:sp>
        <p:nvSpPr>
          <p:cNvPr id="14" name="TextBox 13"/>
          <p:cNvSpPr txBox="1"/>
          <p:nvPr/>
        </p:nvSpPr>
        <p:spPr>
          <a:xfrm>
            <a:off x="1508760" y="3730752"/>
            <a:ext cx="4370832" cy="384048"/>
          </a:xfrm>
          <a:prstGeom prst="rect">
            <a:avLst/>
          </a:prstGeom>
          <a:noFill/>
        </p:spPr>
        <p:txBody>
          <a:bodyPr wrap="square" lIns="18288" rIns="18288" tIns="18288" bIns="18288" anchor="t">
            <a:spAutoFit/>
          </a:bodyPr>
          <a:lstStyle/>
          <a:p>
            <a:pPr algn="l"/>
            <a:r>
              <a:rPr sz="1400" b="1" i="0">
                <a:solidFill>
                  <a:srgbClr val="EAF0F9"/>
                </a:solidFill>
                <a:latin typeface="Aptos"/>
              </a:rPr>
              <a:t>Add and evaluate deterministic checks for closures, access, permits and vehicle suitability.</a:t>
            </a:r>
          </a:p>
        </p:txBody>
      </p:sp>
      <p:sp>
        <p:nvSpPr>
          <p:cNvPr id="15" name="TextBox 14"/>
          <p:cNvSpPr txBox="1"/>
          <p:nvPr/>
        </p:nvSpPr>
        <p:spPr>
          <a:xfrm>
            <a:off x="941832" y="4416552"/>
            <a:ext cx="384048" cy="182880"/>
          </a:xfrm>
          <a:prstGeom prst="rect">
            <a:avLst/>
          </a:prstGeom>
          <a:noFill/>
        </p:spPr>
        <p:txBody>
          <a:bodyPr wrap="square" lIns="18288" rIns="18288" tIns="18288" bIns="18288" anchor="t">
            <a:spAutoFit/>
          </a:bodyPr>
          <a:lstStyle/>
          <a:p>
            <a:pPr algn="l"/>
            <a:r>
              <a:rPr sz="1200" b="1" i="0">
                <a:solidFill>
                  <a:srgbClr val="F18F4E"/>
                </a:solidFill>
                <a:latin typeface="Aptos"/>
              </a:rPr>
              <a:t>04</a:t>
            </a:r>
          </a:p>
        </p:txBody>
      </p:sp>
      <p:sp>
        <p:nvSpPr>
          <p:cNvPr id="16" name="TextBox 15"/>
          <p:cNvSpPr txBox="1"/>
          <p:nvPr/>
        </p:nvSpPr>
        <p:spPr>
          <a:xfrm>
            <a:off x="1508760" y="4416552"/>
            <a:ext cx="4370832" cy="384048"/>
          </a:xfrm>
          <a:prstGeom prst="rect">
            <a:avLst/>
          </a:prstGeom>
          <a:noFill/>
        </p:spPr>
        <p:txBody>
          <a:bodyPr wrap="square" lIns="18288" rIns="18288" tIns="18288" bIns="18288" anchor="t">
            <a:spAutoFit/>
          </a:bodyPr>
          <a:lstStyle/>
          <a:p>
            <a:pPr algn="l"/>
            <a:r>
              <a:rPr sz="1400" b="1" i="0">
                <a:solidFill>
                  <a:srgbClr val="EAF0F9"/>
                </a:solidFill>
                <a:latin typeface="Aptos"/>
              </a:rPr>
              <a:t>Integrate live official data, then test stale and missing records with travellers and staff.</a:t>
            </a:r>
          </a:p>
        </p:txBody>
      </p:sp>
      <p:sp>
        <p:nvSpPr>
          <p:cNvPr id="17" name="TextBox 16"/>
          <p:cNvSpPr txBox="1"/>
          <p:nvPr/>
        </p:nvSpPr>
        <p:spPr>
          <a:xfrm>
            <a:off x="896112" y="5138928"/>
            <a:ext cx="5074920" cy="493776"/>
          </a:xfrm>
          <a:prstGeom prst="rect">
            <a:avLst/>
          </a:prstGeom>
          <a:noFill/>
        </p:spPr>
        <p:txBody>
          <a:bodyPr wrap="square" lIns="18288" rIns="18288" tIns="18288" bIns="18288" anchor="t">
            <a:spAutoFit/>
          </a:bodyPr>
          <a:lstStyle/>
          <a:p>
            <a:pPr algn="l"/>
            <a:r>
              <a:rPr sz="1300" b="1" i="0">
                <a:solidFill>
                  <a:srgbClr val="F6F4EF"/>
                </a:solidFill>
                <a:latin typeface="Aptos"/>
              </a:rPr>
              <a:t>Terra NT brings the planning workflow together. The next milestone is proving that route recommendations remain traceable and useful when the underlying conditions change.</a:t>
            </a:r>
          </a:p>
        </p:txBody>
      </p:sp>
      <p:cxnSp>
        <p:nvCxnSpPr>
          <p:cNvPr id="18" name="Connector 17"/>
          <p:cNvCxnSpPr/>
          <p:nvPr/>
        </p:nvCxnSpPr>
        <p:spPr>
          <a:xfrm>
            <a:off x="594360" y="6473952"/>
            <a:ext cx="11000232" cy="0"/>
          </a:xfrm>
          <a:prstGeom prst="line">
            <a:avLst/>
          </a:prstGeom>
          <a:ln w="7620">
            <a:solidFill>
              <a:srgbClr val="27334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3504" y="6537960"/>
            <a:ext cx="4114800" cy="164592"/>
          </a:xfrm>
          <a:prstGeom prst="rect">
            <a:avLst/>
          </a:prstGeom>
          <a:noFill/>
        </p:spPr>
        <p:txBody>
          <a:bodyPr wrap="square" lIns="18288" rIns="18288" tIns="18288" bIns="18288" anchor="t">
            <a:spAutoFit/>
          </a:bodyPr>
          <a:lstStyle/>
          <a:p>
            <a:pPr algn="l"/>
            <a:r>
              <a:rPr sz="800" b="1" i="0">
                <a:solidFill>
                  <a:srgbClr val="A8B1C2"/>
                </a:solidFill>
                <a:latin typeface="Aptos"/>
              </a:rPr>
              <a:t>TERRA NT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